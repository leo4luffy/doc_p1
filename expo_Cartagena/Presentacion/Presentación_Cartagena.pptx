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47641-7AE8-5E98-4774-66BA62F2FEB2}" v="46" dt="2024-06-03T12:45:28.355"/>
    <p1510:client id="{413EBC91-70D9-DBFC-6A51-6B771D086139}" v="12" dt="2024-06-05T08:16:01.685"/>
    <p1510:client id="{57BB2B9A-1B3F-1145-FD6C-626D7CDA7FEA}" v="207" dt="2024-06-03T12:40:33.496"/>
    <p1510:client id="{69104671-2E75-91A1-71FF-64E7F1904279}" v="286" dt="2024-06-04T13:56:35.638"/>
    <p1510:client id="{7B278F02-9C58-22BA-28C6-B0C2B25F341C}" v="341" dt="2024-06-04T09:55:24.266"/>
    <p1510:client id="{ED86CDC2-87FD-E662-8FFE-2BAFA9CAE829}" v="253" dt="2024-06-04T08:19:13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ES" sz="1800" b="0" strike="noStrike" spc="-1">
                <a:solidFill>
                  <a:srgbClr val="000000"/>
                </a:solidFill>
                <a:latin typeface="Calibri"/>
              </a:rPr>
              <a:t>Pulse para desplazar la diapositiva</a:t>
            </a: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ES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9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ES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9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s-E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s-ES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9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s-ES" sz="1400" b="0" strike="noStrike" spc="-1">
                <a:latin typeface="Times New Roman"/>
              </a:defRPr>
            </a:lvl1pPr>
          </a:lstStyle>
          <a:p>
            <a:r>
              <a:rPr lang="es-ES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9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s-E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3CFB2B66-2218-4461-85B4-5233C509AB2A}" type="slidenum">
              <a:rPr lang="es-ES" sz="1400" b="0" strike="noStrike" spc="-1">
                <a:latin typeface="Times New Roman"/>
              </a:rPr>
              <a:t>‹Nº›</a:t>
            </a:fld>
            <a:endParaRPr lang="es-E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10.1111/jbg.12826#jbg12826-bib-0048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onlinelibrary.wiley.com/doi/10.1111/jbg.12826#jbg12826-tbl-0005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ES" sz="1200" b="0" strike="noStrike" spc="-1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ES" sz="1200" b="0" strike="noStrike" spc="-1"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s-E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BBB468-FD4C-45B5-88E7-870A6F1B5D9E}" type="slidenum">
              <a:rPr lang="es-ES" sz="1200" b="0" strike="noStrike" spc="-1">
                <a:latin typeface="Times New Roman"/>
              </a:rPr>
              <a:t>1</a:t>
            </a:fld>
            <a:endParaRPr lang="es-E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Introducción</a:t>
            </a:r>
            <a:r>
              <a:rPr lang="en-US" dirty="0">
                <a:latin typeface="Calibri"/>
                <a:cs typeface="Calibri"/>
              </a:rPr>
              <a:t>: Hoy </a:t>
            </a:r>
            <a:r>
              <a:rPr lang="en-US" dirty="0" err="1">
                <a:latin typeface="Calibri"/>
                <a:cs typeface="Calibri"/>
              </a:rPr>
              <a:t>en</a:t>
            </a:r>
            <a:r>
              <a:rPr lang="en-US" dirty="0">
                <a:latin typeface="Calibri"/>
                <a:cs typeface="Calibri"/>
              </a:rPr>
              <a:t> día, con la </a:t>
            </a:r>
            <a:r>
              <a:rPr lang="en-US" dirty="0" err="1">
                <a:latin typeface="Calibri"/>
                <a:cs typeface="Calibri"/>
              </a:rPr>
              <a:t>diversidad</a:t>
            </a:r>
            <a:r>
              <a:rPr lang="en-US" dirty="0">
                <a:latin typeface="Calibri"/>
                <a:cs typeface="Calibri"/>
              </a:rPr>
              <a:t> de </a:t>
            </a:r>
            <a:r>
              <a:rPr lang="en-US" dirty="0" err="1">
                <a:latin typeface="Calibri"/>
                <a:cs typeface="Calibri"/>
              </a:rPr>
              <a:t>densidades</a:t>
            </a:r>
            <a:r>
              <a:rPr lang="en-US" dirty="0">
                <a:latin typeface="Calibri"/>
                <a:cs typeface="Calibri"/>
              </a:rPr>
              <a:t> de chips </a:t>
            </a:r>
            <a:r>
              <a:rPr lang="en-US" dirty="0" err="1">
                <a:latin typeface="Calibri"/>
                <a:cs typeface="Calibri"/>
              </a:rPr>
              <a:t>disponibles</a:t>
            </a:r>
            <a:r>
              <a:rPr lang="en-US" dirty="0">
                <a:latin typeface="Calibri"/>
                <a:cs typeface="Calibri"/>
              </a:rPr>
              <a:t> y </a:t>
            </a:r>
            <a:r>
              <a:rPr lang="en-US" dirty="0" err="1">
                <a:latin typeface="Calibri"/>
                <a:cs typeface="Calibri"/>
              </a:rPr>
              <a:t>el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menor</a:t>
            </a:r>
            <a:r>
              <a:rPr lang="en-US" dirty="0">
                <a:latin typeface="Calibri"/>
                <a:cs typeface="Calibri"/>
              </a:rPr>
              <a:t> </a:t>
            </a:r>
            <a:r>
              <a:rPr lang="en-US" dirty="0" err="1">
                <a:latin typeface="Calibri"/>
                <a:cs typeface="Calibri"/>
              </a:rPr>
              <a:t>costo</a:t>
            </a:r>
            <a:r>
              <a:rPr lang="en-US" dirty="0">
                <a:latin typeface="Calibri"/>
                <a:cs typeface="Calibri"/>
              </a:rPr>
              <a:t> del </a:t>
            </a:r>
            <a:r>
              <a:rPr lang="en-US" dirty="0" err="1">
                <a:latin typeface="Calibri"/>
                <a:cs typeface="Calibri"/>
              </a:rPr>
              <a:t>genotipado</a:t>
            </a:r>
            <a:r>
              <a:rPr lang="en-US" dirty="0">
                <a:latin typeface="Calibri"/>
                <a:cs typeface="Calibri"/>
              </a:rPr>
              <a:t>, es </a:t>
            </a:r>
            <a:r>
              <a:rPr lang="en-US" dirty="0" err="1">
                <a:latin typeface="Calibri"/>
                <a:cs typeface="Calibri"/>
              </a:rPr>
              <a:t>importante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analizar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como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estas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densidades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afectan</a:t>
            </a:r>
            <a:r>
              <a:rPr lang="en-US" dirty="0">
                <a:latin typeface="Calibri"/>
                <a:cs typeface="Calibri"/>
              </a:rPr>
              <a:t> la </a:t>
            </a:r>
            <a:r>
              <a:rPr lang="en-US" dirty="0" err="1">
                <a:latin typeface="Calibri"/>
                <a:cs typeface="Calibri"/>
              </a:rPr>
              <a:t>precisión</a:t>
            </a:r>
            <a:r>
              <a:rPr lang="en-US" dirty="0">
                <a:latin typeface="Calibri"/>
                <a:cs typeface="Calibri"/>
              </a:rPr>
              <a:t> de la </a:t>
            </a:r>
            <a:r>
              <a:rPr lang="en-US" dirty="0" err="1">
                <a:latin typeface="Calibri"/>
                <a:cs typeface="Calibri"/>
              </a:rPr>
              <a:t>predicción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genómica</a:t>
            </a:r>
            <a:r>
              <a:rPr lang="en-US" dirty="0">
                <a:latin typeface="Calibri"/>
                <a:cs typeface="Calibri"/>
              </a:rPr>
              <a:t>. Si la </a:t>
            </a:r>
            <a:r>
              <a:rPr lang="en-US" dirty="0" err="1">
                <a:latin typeface="Calibri"/>
                <a:cs typeface="Calibri"/>
              </a:rPr>
              <a:t>diferencia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en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precisión</a:t>
            </a:r>
            <a:r>
              <a:rPr lang="en-US">
                <a:latin typeface="Calibri"/>
                <a:cs typeface="Calibri"/>
              </a:rPr>
              <a:t> entre usar </a:t>
            </a:r>
            <a:r>
              <a:rPr lang="en-US" dirty="0" err="1">
                <a:latin typeface="Calibri"/>
                <a:cs typeface="Calibri"/>
              </a:rPr>
              <a:t>marcadores</a:t>
            </a:r>
            <a:r>
              <a:rPr lang="en-US" dirty="0">
                <a:latin typeface="Calibri"/>
                <a:cs typeface="Calibri"/>
              </a:rPr>
              <a:t> de media y </a:t>
            </a:r>
            <a:r>
              <a:rPr lang="en-US" dirty="0" err="1">
                <a:latin typeface="Calibri"/>
                <a:cs typeface="Calibri"/>
              </a:rPr>
              <a:t>alta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densidad</a:t>
            </a:r>
            <a:r>
              <a:rPr lang="en-US" dirty="0">
                <a:latin typeface="Calibri"/>
                <a:cs typeface="Calibri"/>
              </a:rPr>
              <a:t> es </a:t>
            </a:r>
            <a:r>
              <a:rPr lang="en-US" dirty="0" err="1">
                <a:latin typeface="Calibri"/>
                <a:cs typeface="Calibri"/>
              </a:rPr>
              <a:t>mínima</a:t>
            </a:r>
            <a:r>
              <a:rPr lang="en-US" dirty="0">
                <a:latin typeface="Calibri"/>
                <a:cs typeface="Calibri"/>
              </a:rPr>
              <a:t>, ¿no </a:t>
            </a:r>
            <a:r>
              <a:rPr lang="en-US" dirty="0" err="1">
                <a:latin typeface="Calibri"/>
                <a:cs typeface="Calibri"/>
              </a:rPr>
              <a:t>sería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mejor</a:t>
            </a:r>
            <a:r>
              <a:rPr lang="en-US" dirty="0">
                <a:latin typeface="Calibri"/>
                <a:cs typeface="Calibri"/>
              </a:rPr>
              <a:t> usar </a:t>
            </a:r>
            <a:r>
              <a:rPr lang="en-US" dirty="0" err="1">
                <a:latin typeface="Calibri"/>
                <a:cs typeface="Calibri"/>
              </a:rPr>
              <a:t>marcadores</a:t>
            </a:r>
            <a:r>
              <a:rPr lang="en-US" dirty="0">
                <a:latin typeface="Calibri"/>
                <a:cs typeface="Calibri"/>
              </a:rPr>
              <a:t> de media </a:t>
            </a:r>
            <a:r>
              <a:rPr lang="en-US" dirty="0" err="1">
                <a:latin typeface="Calibri"/>
                <a:cs typeface="Calibri"/>
              </a:rPr>
              <a:t>densidad</a:t>
            </a:r>
            <a:r>
              <a:rPr lang="en-US" dirty="0">
                <a:latin typeface="Calibri"/>
                <a:cs typeface="Calibri"/>
              </a:rPr>
              <a:t>, con la </a:t>
            </a:r>
            <a:r>
              <a:rPr lang="en-US" dirty="0" err="1">
                <a:latin typeface="Calibri"/>
                <a:cs typeface="Calibri"/>
              </a:rPr>
              <a:t>ventaja</a:t>
            </a:r>
            <a:r>
              <a:rPr lang="en-US" dirty="0">
                <a:latin typeface="Calibri"/>
                <a:cs typeface="Calibri"/>
              </a:rPr>
              <a:t> de un </a:t>
            </a:r>
            <a:r>
              <a:rPr lang="en-US" dirty="0" err="1">
                <a:latin typeface="Calibri"/>
                <a:cs typeface="Calibri"/>
              </a:rPr>
              <a:t>menor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costo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computacional</a:t>
            </a:r>
            <a:r>
              <a:rPr lang="en-US" dirty="0">
                <a:latin typeface="Calibri"/>
                <a:cs typeface="Calibri"/>
              </a:rPr>
              <a:t>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3CFB2B66-2218-4461-85B4-5233C509AB2A}" type="slidenum">
              <a:rPr lang="es-ES" sz="1400" b="0" strike="noStrike" spc="-1">
                <a:latin typeface="Times New Roman"/>
              </a:rPr>
              <a:t>2</a:t>
            </a:fld>
            <a:endParaRPr lang="es-E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0394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latin typeface="Arial"/>
              </a:rPr>
              <a:t>Respecto a los resultados presentados en esta tabla:</a:t>
            </a:r>
            <a:endParaRPr lang="es-ES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lang="es-ES" sz="2000" b="0" strike="noStrike" spc="-1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Arial"/>
              </a:rPr>
              <a:t>En un articulo de Nel et al (</a:t>
            </a:r>
            <a:r>
              <a:rPr lang="en-US" sz="2000" b="1" strike="noStrike" spc="-1">
                <a:latin typeface="Arial"/>
              </a:rPr>
              <a:t>Including genomic information in the genetic evaluation of production and reproduction traits in South African Merino sheep</a:t>
            </a:r>
            <a:r>
              <a:rPr lang="en-US" sz="2000" b="0" strike="noStrike" spc="-1">
                <a:latin typeface="Arial"/>
              </a:rPr>
              <a:t>) mencionan que no observaron una tendencia clara entre caracteres, excepto que los caracteres de fertilidad tendieron a subestimarse (sesgo &lt; 1), y mencionan una preocupación en caso de sobredispersión (dispersión &gt; 1) en el conjunto de datos que ellos usaron: La expectativa realista de </a:t>
            </a:r>
            <a:r>
              <a:rPr lang="en-US" sz="2000" b="0" i="1" strike="noStrike" spc="-1">
                <a:latin typeface="Arial"/>
              </a:rPr>
              <a:t>la dispersión</a:t>
            </a:r>
            <a:r>
              <a:rPr lang="en-US" sz="2000" b="0" strike="noStrike" spc="-1">
                <a:latin typeface="Arial"/>
              </a:rPr>
              <a:t> está de hecho por debajo de 1, ya que </a:t>
            </a:r>
            <a:r>
              <a:rPr lang="en-US" sz="2000" b="0" i="1" strike="noStrike" spc="-1">
                <a:latin typeface="Arial"/>
              </a:rPr>
              <a:t>aw</a:t>
            </a:r>
            <a:r>
              <a:rPr lang="en-US" sz="2000" b="0" strike="noStrike" spc="-1">
                <a:latin typeface="Arial"/>
              </a:rPr>
              <a:t> es solo una aproximación de la precisión 'verdadera' (Legarra &amp; Reverter,  </a:t>
            </a:r>
            <a:r>
              <a:rPr lang="en-US" sz="2000" b="0" u="sng" strike="noStrike" spc="-1">
                <a:solidFill>
                  <a:srgbClr val="000000"/>
                </a:solidFill>
                <a:uFillTx/>
                <a:latin typeface="Arial"/>
                <a:hlinkClick r:id="rId3"/>
              </a:rPr>
              <a:t>2018</a:t>
            </a:r>
            <a:r>
              <a:rPr lang="en-US" sz="2000" b="0" strike="noStrike" spc="-1">
                <a:latin typeface="Arial"/>
              </a:rPr>
              <a:t> ), pero en algunos casos los valores de β1 fueron muy bajos (&lt;0,50; Tabla  </a:t>
            </a:r>
            <a:r>
              <a:rPr lang="en-US" sz="2000" b="0" u="sng" strike="noStrike" spc="-1">
                <a:solidFill>
                  <a:srgbClr val="000000"/>
                </a:solidFill>
                <a:uFillTx/>
                <a:latin typeface="Arial"/>
                <a:hlinkClick r:id="rId4"/>
              </a:rPr>
              <a:t>5</a:t>
            </a:r>
            <a:r>
              <a:rPr lang="en-US" sz="2000" b="0" strike="noStrike" spc="-1">
                <a:latin typeface="Arial"/>
              </a:rPr>
              <a:t> ). Para los animales clasificados en el "mejor" extremo de la distribución, la sobredispersión conduce a una sobreestimación de los "nuevos" candidatos y a un sesgo contra los candidatos retenidos en la parvada reproductora actual.</a:t>
            </a:r>
            <a:endParaRPr lang="es-ES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s-ES" sz="2000" b="0" strike="noStrike" spc="-1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Arial"/>
              </a:rPr>
              <a:t>En un articulo de Rodriguez-Neira (</a:t>
            </a:r>
            <a:r>
              <a:rPr lang="en-US" sz="2000" b="1" strike="noStrike" spc="-1">
                <a:latin typeface="Arial"/>
              </a:rPr>
              <a:t>Prediction ability for growth and maternal traits using SNP arrays based on different marker densities in Nellore cattle using the ssGBLUP</a:t>
            </a:r>
            <a:r>
              <a:rPr lang="en-US" sz="2000" b="0" strike="noStrike" spc="-1">
                <a:latin typeface="Arial"/>
              </a:rPr>
              <a:t>) mencionan que "para todas las matrices de SNP personalizadas, el sesgo fue mayor para los efectos directos que para los maternos", lo cual se evidencia también aquí.</a:t>
            </a:r>
            <a:endParaRPr lang="es-ES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s-ES" sz="2000" b="0" strike="noStrike" spc="-1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s-E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C4FB34-6CFF-4E0C-973C-0FBF5D5EBECC}" type="slidenum">
              <a:rPr lang="es-ES" sz="1200" b="0" strike="noStrike" spc="-1">
                <a:latin typeface="Times New Roman"/>
              </a:rPr>
              <a:t>4</a:t>
            </a:fld>
            <a:endParaRPr lang="es-E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s-E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708DF0A-F39A-4AAE-AC42-3715C01C2C87}" type="slidenum">
              <a:rPr lang="es-ES" sz="1200" b="0" strike="noStrike" spc="-1">
                <a:latin typeface="Times New Roman"/>
              </a:rPr>
              <a:t>6</a:t>
            </a:fld>
            <a:endParaRPr lang="es-E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35080" y="11026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623200" y="110268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42640" y="0"/>
            <a:ext cx="11952720" cy="29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623200" y="110268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235080" y="33753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62320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623200" y="33753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62320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235080" y="33753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235080" y="33753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62320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235080" y="33753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623200" y="33753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790440" y="11026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346160" y="11026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235080" y="33753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790440" y="33753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346160" y="33753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235080" y="11026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623200" y="110268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242640" y="0"/>
            <a:ext cx="11952720" cy="29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623200" y="110268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235080" y="33753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62320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623200" y="33753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62320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235080" y="33753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235080" y="33753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5623200" y="11026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235080" y="33753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5623200" y="33753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235080" y="11026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3790440" y="11026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7346160" y="11026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235080" y="33753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/>
          </p:nvPr>
        </p:nvSpPr>
        <p:spPr>
          <a:xfrm>
            <a:off x="3790440" y="33753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/>
          </p:nvPr>
        </p:nvSpPr>
        <p:spPr>
          <a:xfrm>
            <a:off x="7346160" y="33753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tif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6"/>
          <p:cNvPicPr/>
          <p:nvPr/>
        </p:nvPicPr>
        <p:blipFill>
          <a:blip r:embed="rId14"/>
          <a:stretch/>
        </p:blipFill>
        <p:spPr>
          <a:xfrm>
            <a:off x="0" y="5943240"/>
            <a:ext cx="12191760" cy="914400"/>
          </a:xfrm>
          <a:prstGeom prst="rect">
            <a:avLst/>
          </a:prstGeom>
          <a:ln w="0">
            <a:noFill/>
          </a:ln>
        </p:spPr>
      </p:pic>
      <p:sp>
        <p:nvSpPr>
          <p:cNvPr id="6" name="Rectángulo 7"/>
          <p:cNvSpPr/>
          <p:nvPr/>
        </p:nvSpPr>
        <p:spPr>
          <a:xfrm>
            <a:off x="0" y="1744560"/>
            <a:ext cx="12191760" cy="19252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0" y="1744560"/>
            <a:ext cx="12191760" cy="1925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s-ES" sz="6000" b="0" strike="noStrike" spc="-1">
                <a:solidFill>
                  <a:srgbClr val="000000"/>
                </a:solidFill>
                <a:latin typeface="Calibri Light"/>
              </a:rPr>
              <a:t>Haga clic para modificar el estilo de título del patrón</a:t>
            </a:r>
            <a:endParaRPr lang="es-ES" sz="6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Imagen 8"/>
          <p:cNvPicPr/>
          <p:nvPr/>
        </p:nvPicPr>
        <p:blipFill>
          <a:blip r:embed="rId15"/>
          <a:stretch/>
        </p:blipFill>
        <p:spPr>
          <a:xfrm>
            <a:off x="0" y="0"/>
            <a:ext cx="3501000" cy="761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solidFill>
                  <a:srgbClr val="000000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rgbClr val="000000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rgbClr val="000000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235080" y="11026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1" strike="noStrike" spc="-1">
                <a:solidFill>
                  <a:srgbClr val="000000"/>
                </a:solidFill>
                <a:latin typeface="Calibri"/>
              </a:rPr>
              <a:t>Haga clic para modificar el estilo de texto del patrón</a:t>
            </a:r>
            <a:endParaRPr lang="es-ES" sz="24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Arial"/>
              <a:buChar char="•"/>
            </a:pPr>
            <a:r>
              <a:rPr lang="es-ES" sz="2400" b="0" strike="noStrike" spc="-1">
                <a:solidFill>
                  <a:srgbClr val="595959"/>
                </a:solidFill>
                <a:latin typeface="Calibri"/>
              </a:rPr>
              <a:t>Segundo nivel</a:t>
            </a:r>
            <a:endParaRPr lang="es-ES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Arial"/>
              <a:buChar char="•"/>
            </a:pPr>
            <a:r>
              <a:rPr lang="es-ES" sz="2000" b="0" strike="noStrike" spc="-1">
                <a:solidFill>
                  <a:srgbClr val="595959"/>
                </a:solidFill>
                <a:latin typeface="Calibri"/>
              </a:rPr>
              <a:t>Tercer nivel</a:t>
            </a:r>
            <a:endParaRPr lang="es-ES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Arial"/>
              <a:buChar char="•"/>
            </a:pPr>
            <a:r>
              <a:rPr lang="es-ES" sz="1800" b="0" strike="noStrike" spc="-1">
                <a:solidFill>
                  <a:srgbClr val="595959"/>
                </a:solidFill>
                <a:latin typeface="Calibri"/>
              </a:rPr>
              <a:t>Cuarto nivel</a:t>
            </a:r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Arial"/>
              <a:buChar char="•"/>
            </a:pPr>
            <a:r>
              <a:rPr lang="es-ES" sz="1800" b="0" strike="noStrike" spc="-1">
                <a:solidFill>
                  <a:srgbClr val="595959"/>
                </a:solidFill>
                <a:latin typeface="Calibri"/>
              </a:rPr>
              <a:t>Quinto nivel</a:t>
            </a:r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CuadroTexto 6"/>
          <p:cNvSpPr/>
          <p:nvPr/>
        </p:nvSpPr>
        <p:spPr>
          <a:xfrm>
            <a:off x="272520" y="5760"/>
            <a:ext cx="86043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3600" b="0" strike="noStrike" spc="-1">
                <a:solidFill>
                  <a:srgbClr val="FFFFFF"/>
                </a:solidFill>
                <a:latin typeface="Calibri Light"/>
              </a:rPr>
              <a:t>Título de la diapositiva</a:t>
            </a:r>
            <a:endParaRPr lang="es-ES" sz="3600" b="0" strike="noStrike" spc="-1">
              <a:latin typeface="Arial"/>
            </a:endParaRPr>
          </a:p>
        </p:txBody>
      </p:sp>
      <p:sp>
        <p:nvSpPr>
          <p:cNvPr id="43" name="CuadroTexto 7"/>
          <p:cNvSpPr/>
          <p:nvPr/>
        </p:nvSpPr>
        <p:spPr>
          <a:xfrm>
            <a:off x="280440" y="5760"/>
            <a:ext cx="86043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3600" b="0" strike="noStrike" spc="-1">
                <a:solidFill>
                  <a:srgbClr val="FFFFFF"/>
                </a:solidFill>
                <a:latin typeface="Calibri Light"/>
              </a:rPr>
              <a:t>Título de la diapositiva</a:t>
            </a:r>
            <a:endParaRPr lang="es-ES" sz="3600" b="0" strike="noStrike" spc="-1">
              <a:latin typeface="Arial"/>
            </a:endParaRPr>
          </a:p>
        </p:txBody>
      </p:sp>
      <p:sp>
        <p:nvSpPr>
          <p:cNvPr id="44" name="Rectángulo 8"/>
          <p:cNvSpPr/>
          <p:nvPr/>
        </p:nvSpPr>
        <p:spPr>
          <a:xfrm>
            <a:off x="6840" y="631080"/>
            <a:ext cx="12203640" cy="255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Rectángulo 9"/>
          <p:cNvSpPr/>
          <p:nvPr/>
        </p:nvSpPr>
        <p:spPr>
          <a:xfrm>
            <a:off x="-4680" y="637560"/>
            <a:ext cx="239400" cy="249120"/>
          </a:xfrm>
          <a:prstGeom prst="rect">
            <a:avLst/>
          </a:prstGeom>
          <a:solidFill>
            <a:srgbClr val="29A2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Elipse 10"/>
          <p:cNvSpPr/>
          <p:nvPr/>
        </p:nvSpPr>
        <p:spPr>
          <a:xfrm rot="1440000">
            <a:off x="111240" y="706680"/>
            <a:ext cx="6192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Rectángulo 11"/>
          <p:cNvSpPr/>
          <p:nvPr/>
        </p:nvSpPr>
        <p:spPr>
          <a:xfrm>
            <a:off x="-4320" y="-9720"/>
            <a:ext cx="12203640" cy="6613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Elipse 13"/>
          <p:cNvSpPr/>
          <p:nvPr/>
        </p:nvSpPr>
        <p:spPr>
          <a:xfrm rot="1440000">
            <a:off x="269640" y="655920"/>
            <a:ext cx="61920" cy="144000"/>
          </a:xfrm>
          <a:prstGeom prst="ellipse">
            <a:avLst/>
          </a:prstGeom>
          <a:solidFill>
            <a:srgbClr val="D6C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s-ES" sz="3600" b="0" strike="noStrike" spc="-1">
                <a:solidFill>
                  <a:srgbClr val="FFFFFF"/>
                </a:solidFill>
                <a:latin typeface="Calibri Light"/>
              </a:rPr>
              <a:t>Haga clic para modificar el estilo de título del patrón</a:t>
            </a:r>
            <a:endParaRPr lang="es-ES" sz="3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Rectángulo 14"/>
          <p:cNvSpPr/>
          <p:nvPr/>
        </p:nvSpPr>
        <p:spPr>
          <a:xfrm>
            <a:off x="-4320" y="6656760"/>
            <a:ext cx="11519640" cy="2012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1" name="Imagen 15"/>
          <p:cNvPicPr/>
          <p:nvPr/>
        </p:nvPicPr>
        <p:blipFill>
          <a:blip r:embed="rId14"/>
          <a:stretch/>
        </p:blipFill>
        <p:spPr>
          <a:xfrm>
            <a:off x="11302560" y="6651360"/>
            <a:ext cx="875880" cy="209880"/>
          </a:xfrm>
          <a:prstGeom prst="rect">
            <a:avLst/>
          </a:prstGeom>
          <a:ln w="0">
            <a:noFill/>
          </a:ln>
        </p:spPr>
      </p:pic>
      <p:sp>
        <p:nvSpPr>
          <p:cNvPr id="52" name="CuadroTexto 16"/>
          <p:cNvSpPr/>
          <p:nvPr/>
        </p:nvSpPr>
        <p:spPr>
          <a:xfrm>
            <a:off x="-45000" y="6622200"/>
            <a:ext cx="827208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200" b="0" strike="noStrike" spc="-1">
                <a:solidFill>
                  <a:srgbClr val="595959"/>
                </a:solidFill>
                <a:latin typeface="Calibri Light"/>
              </a:rPr>
              <a:t>Instituto Nacional de Investigación y Tecnología Agraria y Alimentaria </a:t>
            </a:r>
            <a:endParaRPr lang="es-ES" sz="12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dgar.reinoso@inia.csic.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0" y="3999960"/>
            <a:ext cx="12199680" cy="1050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</a:rPr>
              <a:t>Jorge L. López-Martínez</a:t>
            </a:r>
            <a:r>
              <a:rPr lang="en-US" sz="2400" b="0" strike="noStrike" spc="-1" baseline="30000" dirty="0">
                <a:solidFill>
                  <a:srgbClr val="000000"/>
                </a:solidFill>
                <a:latin typeface="Calibri"/>
              </a:rPr>
              <a:t> *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</a:rPr>
              <a:t>; M</a:t>
            </a:r>
            <a:r>
              <a:rPr lang="es-ES" sz="2400" b="0" strike="noStrike" spc="-1" baseline="30000" dirty="0">
                <a:solidFill>
                  <a:srgbClr val="000000"/>
                </a:solidFill>
                <a:latin typeface="Calibri"/>
              </a:rPr>
              <a:t>a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</a:rPr>
              <a:t> Jesús </a:t>
            </a:r>
            <a:r>
              <a:rPr lang="es-ES" sz="2400" b="0" strike="noStrike" spc="-1" dirty="0" err="1">
                <a:solidFill>
                  <a:srgbClr val="000000"/>
                </a:solidFill>
                <a:latin typeface="Calibri"/>
              </a:rPr>
              <a:t>Carabaño</a:t>
            </a:r>
            <a:r>
              <a:rPr lang="en-US" sz="2400" b="0" strike="noStrike" spc="-1" baseline="300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</a:rPr>
              <a:t>; Cristina Meneses</a:t>
            </a:r>
            <a:r>
              <a:rPr lang="en-US" sz="2400" b="0" strike="noStrike" spc="-1" baseline="300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</a:rPr>
              <a:t>; Manuel Ramón</a:t>
            </a:r>
            <a:r>
              <a:rPr lang="en-US" sz="2400" b="0" strike="noStrike" spc="-1" baseline="300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</a:rPr>
              <a:t>; Clara Díaz</a:t>
            </a:r>
            <a:r>
              <a:rPr lang="en-US" sz="2400" spc="-1" baseline="30000" dirty="0">
                <a:solidFill>
                  <a:srgbClr val="000000"/>
                </a:solidFill>
                <a:latin typeface="Calibri"/>
              </a:rPr>
              <a:t> </a:t>
            </a:r>
            <a:endParaRPr lang="es-ES" sz="2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title"/>
          </p:nvPr>
        </p:nvSpPr>
        <p:spPr>
          <a:xfrm>
            <a:off x="0" y="1744560"/>
            <a:ext cx="12191760" cy="1925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s-ES" sz="3000" b="1" strike="noStrike" spc="-1" dirty="0">
                <a:solidFill>
                  <a:srgbClr val="000000"/>
                </a:solidFill>
                <a:latin typeface="Calibri Light"/>
              </a:rPr>
              <a:t>	</a:t>
            </a:r>
            <a:r>
              <a:rPr lang="es-ES" sz="2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Evaluación de la precisión en predicciones genómicas usando marcadores de</a:t>
            </a:r>
            <a:r>
              <a:rPr lang="es-ES" sz="2800" b="1" spc="-1" dirty="0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r>
              <a:rPr lang="es-ES" sz="2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densidad variada y tag </a:t>
            </a:r>
            <a:r>
              <a:rPr lang="es-ES" sz="2800" b="1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SNPs</a:t>
            </a:r>
            <a:r>
              <a:rPr lang="es-ES" sz="2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 en Avileña-Negra Ibérica</a:t>
            </a:r>
            <a:endParaRPr lang="es-E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CuadroTexto 3"/>
          <p:cNvSpPr/>
          <p:nvPr/>
        </p:nvSpPr>
        <p:spPr>
          <a:xfrm>
            <a:off x="-12960" y="4704120"/>
            <a:ext cx="12199680" cy="60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s-ES" sz="1600" b="0" strike="noStrike" spc="-1" baseline="30000">
                <a:solidFill>
                  <a:srgbClr val="000000"/>
                </a:solidFill>
                <a:latin typeface="Calibri"/>
              </a:rPr>
              <a:t>1 Instituto Nacional de Investigación y Tecnología Agraria y Alimentaria (INIA-CSIC), Ctra. de La Coruña, km 7.5, 28040 Madrid, España.</a:t>
            </a:r>
            <a:endParaRPr lang="es-ES" sz="16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s-ES" sz="1600" b="0" strike="noStrike" spc="-1" baseline="30000">
                <a:solidFill>
                  <a:srgbClr val="000000"/>
                </a:solidFill>
                <a:latin typeface="Calibri"/>
              </a:rPr>
              <a:t>* </a:t>
            </a:r>
            <a:r>
              <a:rPr lang="es-ES" sz="1600" b="0" u="sng" strike="noStrike" spc="-1" baseline="30000">
                <a:solidFill>
                  <a:srgbClr val="4472C4"/>
                </a:solidFill>
                <a:uFillTx/>
                <a:latin typeface="Calibri"/>
                <a:hlinkClick r:id="rId3"/>
              </a:rPr>
              <a:t>leonardo.lopez@inia.csic.es</a:t>
            </a:r>
            <a:endParaRPr lang="es-ES" sz="1600" b="0" strike="noStrike" spc="-1">
              <a:latin typeface="Arial"/>
            </a:endParaRPr>
          </a:p>
        </p:txBody>
      </p:sp>
      <p:sp>
        <p:nvSpPr>
          <p:cNvPr id="98" name="CuadroTexto 7"/>
          <p:cNvSpPr/>
          <p:nvPr/>
        </p:nvSpPr>
        <p:spPr>
          <a:xfrm>
            <a:off x="7776360" y="174240"/>
            <a:ext cx="44154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s-ES" sz="1200" b="0" strike="noStrike" spc="-1">
                <a:solidFill>
                  <a:srgbClr val="595959"/>
                </a:solidFill>
                <a:latin typeface="Calibri"/>
              </a:rPr>
              <a:t>XXI REUNION NACIONAL DE MEJORA GENÉTICA ANIMAL</a:t>
            </a:r>
            <a:endParaRPr lang="es-ES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s-ES" sz="3600" b="1" strike="noStrike" spc="-1">
                <a:solidFill>
                  <a:srgbClr val="FFFFFF"/>
                </a:solidFill>
                <a:latin typeface="Calibri Light"/>
              </a:rPr>
              <a:t>Metodología</a:t>
            </a:r>
            <a:endParaRPr lang="es-ES" sz="3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CuadroTexto 47"/>
          <p:cNvSpPr/>
          <p:nvPr/>
        </p:nvSpPr>
        <p:spPr>
          <a:xfrm>
            <a:off x="9411840" y="6168240"/>
            <a:ext cx="236808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Calibri"/>
              </a:rPr>
              <a:t>[1] Legarra y Reverter (2018).</a:t>
            </a:r>
            <a:endParaRPr lang="es-ES" sz="1400" b="0" strike="noStrike" spc="-1">
              <a:latin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102B1C50-96DF-D40F-7041-EFA1ABD164C6}"/>
              </a:ext>
            </a:extLst>
          </p:cNvPr>
          <p:cNvGrpSpPr/>
          <p:nvPr/>
        </p:nvGrpSpPr>
        <p:grpSpPr>
          <a:xfrm>
            <a:off x="479160" y="4164663"/>
            <a:ext cx="4812383" cy="2623595"/>
            <a:chOff x="479160" y="4164663"/>
            <a:chExt cx="4812383" cy="2623595"/>
          </a:xfrm>
        </p:grpSpPr>
        <p:graphicFrame>
          <p:nvGraphicFramePr>
            <p:cNvPr id="106" name="Tabla 56"/>
            <p:cNvGraphicFramePr/>
            <p:nvPr>
              <p:extLst>
                <p:ext uri="{D42A27DB-BD31-4B8C-83A1-F6EECF244321}">
                  <p14:modId xmlns:p14="http://schemas.microsoft.com/office/powerpoint/2010/main" val="3726295442"/>
                </p:ext>
              </p:extLst>
            </p:nvPr>
          </p:nvGraphicFramePr>
          <p:xfrm>
            <a:off x="482040" y="4164663"/>
            <a:ext cx="4809503" cy="1584960"/>
          </p:xfrm>
          <a:graphic>
            <a:graphicData uri="http://schemas.openxmlformats.org/drawingml/2006/table">
              <a:tbl>
                <a:tblPr>
                  <a:tableStyleId>{1FECB4D8-DB02-4DC6-A0A2-4F2EBAE1DC90}</a:tableStyleId>
                </a:tblPr>
                <a:tblGrid>
                  <a:gridCol w="93023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4898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523999">
                    <a:extLst>
                      <a:ext uri="{9D8B030D-6E8A-4147-A177-3AD203B41FA5}">
                        <a16:colId xmlns:a16="http://schemas.microsoft.com/office/drawing/2014/main" val="584912686"/>
                      </a:ext>
                    </a:extLst>
                  </a:gridCol>
                  <a:gridCol w="130628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35159">
                  <a:tc>
                    <a:txBody>
                      <a:bodyPr/>
                      <a:lstStyle/>
                      <a:p>
                        <a:pPr lvl="0"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b="1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Carácter</a:t>
                        </a:r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lvl="0"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b="1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Fenotipos</a:t>
                        </a:r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lv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latin typeface="Calibri"/>
                          </a:rPr>
                          <a:t>Fenotipos + Genotipos</a:t>
                        </a:r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lvl="0"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b="1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Individuos </a:t>
                        </a:r>
                        <a:r>
                          <a:rPr lang="es-ES" sz="1600" b="1" strike="noStrike" spc="-1" err="1">
                            <a:solidFill>
                              <a:srgbClr val="000000"/>
                            </a:solidFill>
                            <a:latin typeface="Calibri"/>
                          </a:rPr>
                          <a:t>genotipados</a:t>
                        </a:r>
                      </a:p>
                    </a:txBody>
                    <a:tcPr anchor="ctr"/>
                  </a:tc>
                  <a:extLst>
                    <a:ext uri="{0D108BD9-81ED-4DB2-BD59-A6C34878D82A}">
                      <a16:rowId xmlns:a16="http://schemas.microsoft.com/office/drawing/2014/main" val="4272596327"/>
                    </a:ext>
                  </a:extLst>
                </a:tr>
                <a:tr h="33516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EPP</a:t>
                        </a:r>
                        <a:endParaRPr lang="es-ES" sz="1600" strike="noStrike" spc="-1">
                          <a:latin typeface="Calibri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34512</a:t>
                        </a:r>
                        <a:endParaRPr lang="es-ES" sz="1600" strike="noStrike" spc="-1">
                          <a:latin typeface="Calibri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lvl="0"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1972</a:t>
                        </a:r>
                      </a:p>
                    </a:txBody>
                    <a:tcPr/>
                  </a:tc>
                  <a:tc rowSpan="3"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2401 (</a:t>
                        </a:r>
                        <a:r>
                          <a:rPr lang="es-ES" sz="1600" b="1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2.2%</a:t>
                        </a:r>
                        <a:r>
                          <a:rPr lang="es-ES" sz="1600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)</a:t>
                        </a:r>
                        <a:endParaRPr lang="es-ES" sz="1600" strike="noStrike" spc="-1">
                          <a:latin typeface="Calibri"/>
                        </a:endParaRPr>
                      </a:p>
                    </a:txBody>
                    <a:tcPr anchor="ctr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516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IEP</a:t>
                        </a:r>
                        <a:endParaRPr lang="es-ES" sz="1600" strike="noStrike" spc="-1">
                          <a:latin typeface="Calibri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16726</a:t>
                        </a:r>
                        <a:endParaRPr lang="es-ES" sz="1600" strike="noStrike" spc="-1">
                          <a:latin typeface="Calibri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lvl="0"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1333</a:t>
                        </a:r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s-ES"/>
                      </a:p>
                    </a:txBody>
                    <a:tcPr marL="0" marR="0" marT="0" marB="0" horzOverflow="overflow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3516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PD</a:t>
                        </a:r>
                        <a:endParaRPr lang="es-ES" sz="1600" strike="noStrike" spc="-1">
                          <a:latin typeface="Calibri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64519</a:t>
                        </a:r>
                        <a:endParaRPr lang="es-ES" sz="1600" strike="noStrike" spc="-1">
                          <a:latin typeface="Calibri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lvl="0"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strike="noStrike" spc="-1" dirty="0">
                            <a:solidFill>
                              <a:srgbClr val="000000"/>
                            </a:solidFill>
                            <a:latin typeface="Calibri"/>
                          </a:rPr>
                          <a:t>2174</a:t>
                        </a:r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s-ES"/>
                      </a:p>
                    </a:txBody>
                    <a:tcPr marL="0" marR="0" marT="0" marB="0" horzOverflow="overflow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sp>
          <p:nvSpPr>
            <p:cNvPr id="107" name="CuadroTexto 58"/>
            <p:cNvSpPr/>
            <p:nvPr/>
          </p:nvSpPr>
          <p:spPr>
            <a:xfrm>
              <a:off x="479160" y="5756285"/>
              <a:ext cx="4747933" cy="103197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vertOverflow="overflow" horzOverflow="overflow" wrap="square" lIns="91440" tIns="45720" rIns="91440" bIns="45720" numCol="1" spcCol="0" anchor="t">
              <a:spAutoFit/>
            </a:bodyPr>
            <a:lstStyle/>
            <a:p>
              <a:pPr algn="just">
                <a:lnSpc>
                  <a:spcPct val="100000"/>
                </a:lnSpc>
                <a:buNone/>
              </a:pPr>
              <a:r>
                <a:rPr lang="es-ES" sz="1400" b="0" strike="noStrike" spc="-1">
                  <a:solidFill>
                    <a:srgbClr val="000000"/>
                  </a:solidFill>
                  <a:latin typeface="Calibri"/>
                  <a:ea typeface="Calibri"/>
                </a:rPr>
                <a:t>EPP, Edad al primer parto; IEP, Intervalo entre el primer y el segundo parto; PD, Peso al destete. </a:t>
              </a:r>
              <a:r>
                <a:rPr lang="es-ES" sz="1400" b="1" strike="noStrike" spc="-1">
                  <a:solidFill>
                    <a:srgbClr val="000000"/>
                  </a:solidFill>
                  <a:latin typeface="Calibri"/>
                  <a:ea typeface="Calibri"/>
                </a:rPr>
                <a:t>En total, 108819 individuos en el pedigrí.</a:t>
              </a:r>
              <a:endParaRPr lang="es-ES" sz="14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lang="es-ES" sz="1800" b="0" strike="noStrike" spc="-1">
                <a:latin typeface="Arial"/>
              </a:endParaRP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F4C6E46D-4380-5F19-B834-2CC712270BEE}"/>
              </a:ext>
            </a:extLst>
          </p:cNvPr>
          <p:cNvGrpSpPr/>
          <p:nvPr/>
        </p:nvGrpSpPr>
        <p:grpSpPr>
          <a:xfrm>
            <a:off x="554040" y="1137960"/>
            <a:ext cx="4949640" cy="2560320"/>
            <a:chOff x="554040" y="1137960"/>
            <a:chExt cx="4949640" cy="2560320"/>
          </a:xfrm>
        </p:grpSpPr>
        <p:sp>
          <p:nvSpPr>
            <p:cNvPr id="103" name="CuadroTexto 3"/>
            <p:cNvSpPr/>
            <p:nvPr/>
          </p:nvSpPr>
          <p:spPr>
            <a:xfrm>
              <a:off x="554040" y="1137960"/>
              <a:ext cx="4949640" cy="70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numCol="1" spcCol="0" anchor="t">
              <a:spAutoFit/>
            </a:bodyPr>
            <a:lstStyle/>
            <a:p>
              <a:pPr marL="285840" indent="-285840">
                <a:lnSpc>
                  <a:spcPct val="100000"/>
                </a:lnSpc>
                <a:buClr>
                  <a:srgbClr val="000000"/>
                </a:buClr>
                <a:buFont typeface="Wingdings" charset="2"/>
                <a:buChar char=""/>
              </a:pPr>
              <a:r>
                <a:rPr lang="es-ES" sz="2000" b="1" strike="noStrike" spc="-1">
                  <a:solidFill>
                    <a:srgbClr val="000000"/>
                  </a:solidFill>
                  <a:latin typeface="Calibri"/>
                </a:rPr>
                <a:t>Escenarios para la predicción genómica</a:t>
              </a:r>
              <a:endParaRPr lang="es-ES" sz="2000" b="0" strike="noStrike" spc="-1">
                <a:latin typeface="Arial"/>
              </a:endParaRPr>
            </a:p>
          </p:txBody>
        </p:sp>
        <p:graphicFrame>
          <p:nvGraphicFramePr>
            <p:cNvPr id="108" name="Tabla 5"/>
            <p:cNvGraphicFramePr/>
            <p:nvPr>
              <p:extLst>
                <p:ext uri="{D42A27DB-BD31-4B8C-83A1-F6EECF244321}">
                  <p14:modId xmlns:p14="http://schemas.microsoft.com/office/powerpoint/2010/main" val="3108194969"/>
                </p:ext>
              </p:extLst>
            </p:nvPr>
          </p:nvGraphicFramePr>
          <p:xfrm>
            <a:off x="559800" y="1741680"/>
            <a:ext cx="1204920" cy="370800"/>
          </p:xfrm>
          <a:graphic>
            <a:graphicData uri="http://schemas.openxmlformats.org/drawingml/2006/table">
              <a:tbl>
                <a:tblPr/>
                <a:tblGrid>
                  <a:gridCol w="52488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8004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7080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800" b="1" strike="noStrike" spc="-1">
                            <a:solidFill>
                              <a:srgbClr val="000000"/>
                            </a:solidFill>
                            <a:latin typeface="Calibri"/>
                          </a:rPr>
                          <a:t>E1</a:t>
                        </a:r>
                        <a:endParaRPr lang="es-ES" sz="1800" b="0" strike="noStrike" spc="-1">
                          <a:latin typeface="Arial"/>
                        </a:endParaRPr>
                      </a:p>
                    </a:txBody>
                    <a:tcPr>
                      <a:lnL w="12240">
                        <a:solidFill>
                          <a:srgbClr val="000000"/>
                        </a:solidFill>
                      </a:lnL>
                      <a:lnR w="12240">
                        <a:solidFill>
                          <a:srgbClr val="000000"/>
                        </a:solidFill>
                      </a:lnR>
                      <a:lnT w="12240">
                        <a:solidFill>
                          <a:srgbClr val="000000"/>
                        </a:solidFill>
                      </a:lnT>
                      <a:lnB w="12240">
                        <a:solidFill>
                          <a:srgbClr val="000000"/>
                        </a:solidFill>
                      </a:lnB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b="0" strike="noStrike" spc="-1">
                            <a:solidFill>
                              <a:srgbClr val="000000"/>
                            </a:solidFill>
                            <a:latin typeface="Calibri"/>
                          </a:rPr>
                          <a:t>~50k</a:t>
                        </a:r>
                        <a:endParaRPr lang="es-ES" sz="1600" b="0" strike="noStrike" spc="-1">
                          <a:latin typeface="Arial"/>
                        </a:endParaRPr>
                      </a:p>
                    </a:txBody>
                    <a:tcPr>
                      <a:lnL w="12240">
                        <a:solidFill>
                          <a:srgbClr val="000000"/>
                        </a:solidFill>
                      </a:lnL>
                      <a:lnR w="12240">
                        <a:solidFill>
                          <a:srgbClr val="000000"/>
                        </a:solidFill>
                      </a:lnR>
                      <a:lnT w="12240">
                        <a:solidFill>
                          <a:srgbClr val="000000"/>
                        </a:solidFill>
                      </a:lnT>
                      <a:lnB w="12240">
                        <a:solidFill>
                          <a:srgbClr val="000000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09" name="Tabla 8"/>
            <p:cNvGraphicFramePr/>
            <p:nvPr>
              <p:extLst>
                <p:ext uri="{D42A27DB-BD31-4B8C-83A1-F6EECF244321}">
                  <p14:modId xmlns:p14="http://schemas.microsoft.com/office/powerpoint/2010/main" val="130875187"/>
                </p:ext>
              </p:extLst>
            </p:nvPr>
          </p:nvGraphicFramePr>
          <p:xfrm>
            <a:off x="559800" y="2266920"/>
            <a:ext cx="1387800" cy="370800"/>
          </p:xfrm>
          <a:graphic>
            <a:graphicData uri="http://schemas.openxmlformats.org/drawingml/2006/table">
              <a:tbl>
                <a:tblPr/>
                <a:tblGrid>
                  <a:gridCol w="5353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85248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7080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800" b="1" strike="noStrike" spc="-1">
                            <a:solidFill>
                              <a:srgbClr val="000000"/>
                            </a:solidFill>
                            <a:latin typeface="Calibri"/>
                          </a:rPr>
                          <a:t>E2</a:t>
                        </a:r>
                        <a:endParaRPr lang="es-ES" sz="1800" b="0" strike="noStrike" spc="-1">
                          <a:latin typeface="Arial"/>
                        </a:endParaRPr>
                      </a:p>
                    </a:txBody>
                    <a:tcPr>
                      <a:lnL w="12240">
                        <a:solidFill>
                          <a:srgbClr val="000000"/>
                        </a:solidFill>
                      </a:lnL>
                      <a:lnR w="12240">
                        <a:solidFill>
                          <a:srgbClr val="000000"/>
                        </a:solidFill>
                      </a:lnR>
                      <a:lnT w="12240">
                        <a:solidFill>
                          <a:srgbClr val="000000"/>
                        </a:solidFill>
                      </a:lnT>
                      <a:lnB w="12240">
                        <a:solidFill>
                          <a:srgbClr val="000000"/>
                        </a:solidFill>
                      </a:lnB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b="0" strike="noStrike" spc="-1">
                            <a:solidFill>
                              <a:srgbClr val="000000"/>
                            </a:solidFill>
                            <a:latin typeface="Calibri"/>
                          </a:rPr>
                          <a:t>~600k</a:t>
                        </a:r>
                        <a:endParaRPr lang="es-ES" sz="1600" b="0" strike="noStrike" spc="-1">
                          <a:latin typeface="Arial"/>
                        </a:endParaRPr>
                      </a:p>
                    </a:txBody>
                    <a:tcPr>
                      <a:lnL w="12240">
                        <a:solidFill>
                          <a:srgbClr val="000000"/>
                        </a:solidFill>
                      </a:lnL>
                      <a:lnR w="12240">
                        <a:solidFill>
                          <a:srgbClr val="000000"/>
                        </a:solidFill>
                      </a:lnR>
                      <a:lnT w="12240">
                        <a:solidFill>
                          <a:srgbClr val="000000"/>
                        </a:solidFill>
                      </a:lnT>
                      <a:lnB w="12240">
                        <a:solidFill>
                          <a:srgbClr val="000000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10" name="Tabla 1"/>
            <p:cNvGraphicFramePr/>
            <p:nvPr>
              <p:extLst>
                <p:ext uri="{D42A27DB-BD31-4B8C-83A1-F6EECF244321}">
                  <p14:modId xmlns:p14="http://schemas.microsoft.com/office/powerpoint/2010/main" val="2352536103"/>
                </p:ext>
              </p:extLst>
            </p:nvPr>
          </p:nvGraphicFramePr>
          <p:xfrm>
            <a:off x="559800" y="2792160"/>
            <a:ext cx="2180520" cy="370800"/>
          </p:xfrm>
          <a:graphic>
            <a:graphicData uri="http://schemas.openxmlformats.org/drawingml/2006/table">
              <a:tbl>
                <a:tblPr/>
                <a:tblGrid>
                  <a:gridCol w="51696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66356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7080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800" b="1" strike="noStrike" spc="-1">
                            <a:solidFill>
                              <a:srgbClr val="000000"/>
                            </a:solidFill>
                            <a:latin typeface="Calibri"/>
                          </a:rPr>
                          <a:t>E3</a:t>
                        </a:r>
                        <a:endParaRPr lang="es-ES" sz="1800" b="0" strike="noStrike" spc="-1">
                          <a:latin typeface="Arial"/>
                        </a:endParaRPr>
                      </a:p>
                    </a:txBody>
                    <a:tcPr>
                      <a:lnL w="12240">
                        <a:solidFill>
                          <a:srgbClr val="000000"/>
                        </a:solidFill>
                      </a:lnL>
                      <a:lnR w="12240">
                        <a:solidFill>
                          <a:srgbClr val="000000"/>
                        </a:solidFill>
                      </a:lnR>
                      <a:lnT w="12240">
                        <a:solidFill>
                          <a:srgbClr val="000000"/>
                        </a:solidFill>
                      </a:lnT>
                      <a:lnB w="12240">
                        <a:solidFill>
                          <a:srgbClr val="000000"/>
                        </a:solidFill>
                      </a:lnB>
                      <a:solidFill>
                        <a:srgbClr val="03FFE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b="1" u="sng" strike="noStrike" spc="-1">
                            <a:solidFill>
                              <a:srgbClr val="000000"/>
                            </a:solidFill>
                            <a:uFillTx/>
                            <a:latin typeface="Calibri"/>
                          </a:rPr>
                          <a:t>tag SNPs</a:t>
                        </a:r>
                        <a:r>
                          <a:rPr lang="es-ES" sz="1600" b="0" strike="noStrike" spc="-1">
                            <a:solidFill>
                              <a:srgbClr val="000000"/>
                            </a:solidFill>
                            <a:latin typeface="Calibri"/>
                          </a:rPr>
                          <a:t> ~100k</a:t>
                        </a:r>
                        <a:endParaRPr lang="es-ES" sz="1600" b="0" strike="noStrike" spc="-1">
                          <a:latin typeface="Arial"/>
                        </a:endParaRPr>
                      </a:p>
                    </a:txBody>
                    <a:tcPr>
                      <a:lnL w="12240">
                        <a:solidFill>
                          <a:srgbClr val="000000"/>
                        </a:solidFill>
                      </a:lnL>
                      <a:lnR w="12240">
                        <a:solidFill>
                          <a:srgbClr val="000000"/>
                        </a:solidFill>
                      </a:lnR>
                      <a:lnT w="12240">
                        <a:solidFill>
                          <a:srgbClr val="000000"/>
                        </a:solidFill>
                      </a:lnT>
                      <a:lnB w="12240">
                        <a:solidFill>
                          <a:srgbClr val="000000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11" name="Tabla 9"/>
            <p:cNvGraphicFramePr/>
            <p:nvPr>
              <p:extLst>
                <p:ext uri="{D42A27DB-BD31-4B8C-83A1-F6EECF244321}">
                  <p14:modId xmlns:p14="http://schemas.microsoft.com/office/powerpoint/2010/main" val="2289686122"/>
                </p:ext>
              </p:extLst>
            </p:nvPr>
          </p:nvGraphicFramePr>
          <p:xfrm>
            <a:off x="559800" y="3327480"/>
            <a:ext cx="3251520" cy="370800"/>
          </p:xfrm>
          <a:graphic>
            <a:graphicData uri="http://schemas.openxmlformats.org/drawingml/2006/table">
              <a:tbl>
                <a:tblPr/>
                <a:tblGrid>
                  <a:gridCol w="5148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7367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7080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800" b="1" strike="noStrike" spc="-1">
                            <a:solidFill>
                              <a:srgbClr val="000000"/>
                            </a:solidFill>
                            <a:latin typeface="Calibri"/>
                          </a:rPr>
                          <a:t>E4</a:t>
                        </a:r>
                        <a:endParaRPr lang="es-ES" sz="1800" b="0" strike="noStrike" spc="-1">
                          <a:latin typeface="Arial"/>
                        </a:endParaRPr>
                      </a:p>
                    </a:txBody>
                    <a:tcPr>
                      <a:lnL w="12240">
                        <a:solidFill>
                          <a:srgbClr val="000000"/>
                        </a:solidFill>
                      </a:lnL>
                      <a:lnR w="12240">
                        <a:solidFill>
                          <a:srgbClr val="000000"/>
                        </a:solidFill>
                      </a:lnR>
                      <a:lnT w="12240">
                        <a:solidFill>
                          <a:srgbClr val="000000"/>
                        </a:solidFill>
                      </a:lnT>
                      <a:lnB w="12240">
                        <a:solidFill>
                          <a:srgbClr val="000000"/>
                        </a:solidFill>
                      </a:lnB>
                      <a:solidFill>
                        <a:srgbClr val="96FF0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s-ES" sz="1600" b="1" u="sng" strike="noStrike" spc="-1">
                            <a:solidFill>
                              <a:srgbClr val="000000"/>
                            </a:solidFill>
                            <a:uFillTx/>
                            <a:latin typeface="Calibri"/>
                          </a:rPr>
                          <a:t>tags SNPs</a:t>
                        </a:r>
                        <a:r>
                          <a:rPr lang="es-ES" sz="1600" b="0" strike="noStrike" spc="-1">
                            <a:solidFill>
                              <a:srgbClr val="000000"/>
                            </a:solidFill>
                            <a:latin typeface="Calibri"/>
                          </a:rPr>
                          <a:t> + </a:t>
                        </a:r>
                        <a:r>
                          <a:rPr lang="es-ES" sz="1600" b="1" u="sng" strike="noStrike" spc="-1">
                            <a:solidFill>
                              <a:srgbClr val="000000"/>
                            </a:solidFill>
                            <a:uFillTx/>
                            <a:latin typeface="Calibri"/>
                          </a:rPr>
                          <a:t>Singletons</a:t>
                        </a:r>
                        <a:r>
                          <a:rPr lang="es-ES" sz="1600" b="0" strike="noStrike" spc="-1">
                            <a:solidFill>
                              <a:srgbClr val="000000"/>
                            </a:solidFill>
                            <a:latin typeface="Calibri"/>
                          </a:rPr>
                          <a:t> ~200k</a:t>
                        </a:r>
                        <a:endParaRPr lang="es-ES" sz="1600" b="0" strike="noStrike" spc="-1">
                          <a:latin typeface="Arial"/>
                        </a:endParaRPr>
                      </a:p>
                    </a:txBody>
                    <a:tcPr>
                      <a:lnL w="12240">
                        <a:solidFill>
                          <a:srgbClr val="000000"/>
                        </a:solidFill>
                      </a:lnL>
                      <a:lnR w="12240">
                        <a:solidFill>
                          <a:srgbClr val="000000"/>
                        </a:solidFill>
                      </a:lnR>
                      <a:lnT w="12240">
                        <a:solidFill>
                          <a:srgbClr val="000000"/>
                        </a:solidFill>
                      </a:lnT>
                      <a:lnB w="12240">
                        <a:solidFill>
                          <a:srgbClr val="000000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7CAB75E-59F9-5280-DB13-89CA80B63F79}"/>
              </a:ext>
            </a:extLst>
          </p:cNvPr>
          <p:cNvGrpSpPr/>
          <p:nvPr/>
        </p:nvGrpSpPr>
        <p:grpSpPr>
          <a:xfrm>
            <a:off x="6829200" y="1135440"/>
            <a:ext cx="4811040" cy="3859331"/>
            <a:chOff x="6829200" y="1135440"/>
            <a:chExt cx="4811040" cy="3859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3">
                  <a:extLst>
                    <a:ext uri="{FF2B5EF4-FFF2-40B4-BE49-F238E27FC236}">
                      <a16:creationId xmlns:a16="http://schemas.microsoft.com/office/drawing/2014/main" id="{282C5932-C85C-B738-9C46-BD14BF79C91C}"/>
                    </a:ext>
                  </a:extLst>
                </p:cNvPr>
                <p:cNvSpPr/>
                <p:nvPr/>
              </p:nvSpPr>
              <p:spPr>
                <a:xfrm>
                  <a:off x="6829200" y="1135440"/>
                  <a:ext cx="4811040" cy="1552797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numCol="1" spcCol="0" anchor="t">
                  <a:spAutoFit/>
                </a:bodyPr>
                <a:lstStyle>
                  <a:defPPr>
                    <a:defRPr lang="es-E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5840" indent="-285840">
                    <a:lnSpc>
                      <a:spcPct val="100000"/>
                    </a:lnSpc>
                    <a:buClr>
                      <a:srgbClr val="000000"/>
                    </a:buClr>
                    <a:buFont typeface="Wingdings" charset="2"/>
                    <a:buChar char=""/>
                  </a:pPr>
                  <a:r>
                    <a:rPr lang="es-ES" sz="2000" b="1" strike="noStrike" spc="-1">
                      <a:solidFill>
                        <a:srgbClr val="000000"/>
                      </a:solidFill>
                      <a:latin typeface="Calibri"/>
                      <a:ea typeface="Calibri"/>
                    </a:rPr>
                    <a:t>Comparación de escenarios</a:t>
                  </a:r>
                  <a:endParaRPr lang="es-ES" sz="2000" b="0" strike="noStrike" spc="-1">
                    <a:latin typeface="Arial"/>
                  </a:endParaRPr>
                </a:p>
                <a:p>
                  <a:pPr>
                    <a:lnSpc>
                      <a:spcPct val="100000"/>
                    </a:lnSpc>
                    <a:buNone/>
                  </a:pPr>
                  <a:endParaRPr lang="es-ES" sz="2000" b="0" strike="noStrike" spc="-1">
                    <a:latin typeface="Arial"/>
                  </a:endParaRPr>
                </a:p>
                <a:p>
                  <a:pPr algn="just">
                    <a:lnSpc>
                      <a:spcPct val="100000"/>
                    </a:lnSpc>
                    <a:buNone/>
                  </a:pPr>
                  <a:r>
                    <a:rPr lang="es-ES" sz="1600" b="0" strike="noStrike" spc="-1">
                      <a:solidFill>
                        <a:srgbClr val="000000"/>
                      </a:solidFill>
                      <a:latin typeface="Calibri"/>
                      <a:ea typeface="Calibri"/>
                    </a:rPr>
                    <a:t>En cada escenario se evaluó el </a:t>
                  </a:r>
                  <a:r>
                    <a:rPr lang="es-ES" sz="1600" b="0" u="sng" strike="noStrike" spc="-1">
                      <a:solidFill>
                        <a:srgbClr val="000000"/>
                      </a:solidFill>
                      <a:uFillTx/>
                      <a:latin typeface="Calibri"/>
                      <a:ea typeface="Calibri"/>
                    </a:rPr>
                    <a:t>sesgo</a:t>
                  </a:r>
                  <a:r>
                    <a:rPr lang="es-ES" sz="1600" b="0" strike="noStrike" spc="-1">
                      <a:solidFill>
                        <a:srgbClr val="000000"/>
                      </a:solidFill>
                      <a:uFillTx/>
                      <a:latin typeface="Calibri"/>
                      <a:ea typeface="Calibri"/>
                    </a:rPr>
                    <a:t>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" sz="1600" b="0" i="1" strike="noStrike" spc="-1" smtClean="0">
                                  <a:solidFill>
                                    <a:srgbClr val="000000"/>
                                  </a:solidFill>
                                  <a:uFillTx/>
                                  <a:latin typeface="Cambria Math" panose="02040503050406030204" pitchFamily="18" charset="0"/>
                                  <a:ea typeface="Calibri"/>
                                </a:rPr>
                              </m:ctrlPr>
                            </m:accPr>
                            <m:e>
                              <m:r>
                                <a:rPr lang="es-ES" sz="1600" b="0" i="1" strike="noStrike" spc="-1" smtClean="0">
                                  <a:solidFill>
                                    <a:srgbClr val="000000"/>
                                  </a:solidFill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</m:acc>
                        </m:e>
                        <m:sub>
                          <m: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  <m:t>𝑤</m:t>
                          </m:r>
                          <m: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  <m:t>,</m:t>
                          </m:r>
                          <m: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s-ES" sz="1600" b="0" strike="noStrike" spc="-1">
                      <a:solidFill>
                        <a:srgbClr val="000000"/>
                      </a:solidFill>
                      <a:uFillTx/>
                      <a:latin typeface="Calibri"/>
                      <a:ea typeface="Calibri"/>
                    </a:rPr>
                    <a:t>)</a:t>
                  </a:r>
                  <a:r>
                    <a:rPr lang="es-ES" sz="1600" b="0" strike="noStrike" spc="-1">
                      <a:solidFill>
                        <a:srgbClr val="000000"/>
                      </a:solidFill>
                      <a:latin typeface="Calibri"/>
                      <a:ea typeface="Calibri"/>
                    </a:rPr>
                    <a:t>, la </a:t>
                  </a:r>
                  <a:r>
                    <a:rPr lang="es-ES" sz="1600" b="0" u="sng" strike="noStrike" spc="-1">
                      <a:solidFill>
                        <a:srgbClr val="000000"/>
                      </a:solidFill>
                      <a:uFillTx/>
                      <a:latin typeface="Calibri"/>
                      <a:ea typeface="Calibri"/>
                    </a:rPr>
                    <a:t>dispersión</a:t>
                  </a:r>
                  <a:r>
                    <a:rPr lang="es-ES" sz="1600" b="0" strike="noStrike" spc="-1">
                      <a:solidFill>
                        <a:srgbClr val="000000"/>
                      </a:solidFill>
                      <a:latin typeface="Calibri"/>
                      <a:ea typeface="Calibri"/>
                    </a:rPr>
                    <a:t> 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" sz="1600" b="0" i="1" strike="noStrike" spc="-1" smtClean="0">
                                  <a:solidFill>
                                    <a:srgbClr val="000000"/>
                                  </a:solidFill>
                                  <a:uFillTx/>
                                  <a:latin typeface="Cambria Math" panose="02040503050406030204" pitchFamily="18" charset="0"/>
                                  <a:ea typeface="Calibri"/>
                                </a:rPr>
                              </m:ctrlPr>
                            </m:accPr>
                            <m:e>
                              <m:r>
                                <a:rPr lang="es-ES" sz="1600" b="0" i="1" strike="noStrike" spc="-1" smtClean="0">
                                  <a:solidFill>
                                    <a:srgbClr val="000000"/>
                                  </a:solidFill>
                                  <a:uFillTx/>
                                  <a:latin typeface="Cambria Math" panose="02040503050406030204" pitchFamily="18" charset="0"/>
                                  <a:ea typeface="Calibri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  <m:t>𝑤</m:t>
                          </m:r>
                          <m: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  <m:t>,</m:t>
                          </m:r>
                          <m: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s-ES" sz="1600" b="0" strike="noStrike" spc="-1">
                      <a:solidFill>
                        <a:srgbClr val="000000"/>
                      </a:solidFill>
                      <a:latin typeface="Calibri"/>
                      <a:ea typeface="Calibri"/>
                    </a:rPr>
                    <a:t>) y la </a:t>
                  </a:r>
                  <a:r>
                    <a:rPr lang="es-ES" sz="1600" b="0" u="sng" strike="noStrike" spc="-1">
                      <a:solidFill>
                        <a:srgbClr val="000000"/>
                      </a:solidFill>
                      <a:uFillTx/>
                      <a:latin typeface="Calibri"/>
                      <a:ea typeface="Calibri"/>
                    </a:rPr>
                    <a:t>precisión</a:t>
                  </a:r>
                  <a:r>
                    <a:rPr lang="es-ES" sz="1600" b="0" strike="noStrike" spc="-1">
                      <a:solidFill>
                        <a:srgbClr val="000000"/>
                      </a:solidFill>
                      <a:latin typeface="Calibri"/>
                      <a:ea typeface="Calibri"/>
                    </a:rPr>
                    <a:t> 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" sz="1600" b="0" i="1" strike="noStrike" spc="-1" smtClean="0">
                                  <a:solidFill>
                                    <a:srgbClr val="000000"/>
                                  </a:solidFill>
                                  <a:uFillTx/>
                                  <a:latin typeface="Cambria Math" panose="02040503050406030204" pitchFamily="18" charset="0"/>
                                  <a:ea typeface="Calibri"/>
                                </a:rPr>
                              </m:ctrlPr>
                            </m:accPr>
                            <m:e>
                              <m:r>
                                <a:rPr lang="es-ES" sz="1600" b="0" i="1" strike="noStrike" spc="-1" smtClean="0">
                                  <a:solidFill>
                                    <a:srgbClr val="000000"/>
                                  </a:solidFill>
                                  <a:uFillTx/>
                                  <a:latin typeface="Cambria Math" panose="02040503050406030204" pitchFamily="18" charset="0"/>
                                  <a:ea typeface="Calibri"/>
                                </a:rPr>
                                <m:t>𝑎𝑐𝑐</m:t>
                              </m:r>
                            </m:e>
                          </m:acc>
                        </m:e>
                        <m:sub>
                          <m: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  <m:t>𝑤</m:t>
                          </m:r>
                          <m: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  <m:t>,</m:t>
                          </m:r>
                          <m:r>
                            <a:rPr lang="es-ES" sz="1600" b="0" i="1" strike="noStrike" spc="-1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libri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s-ES" sz="1600" b="0" strike="noStrike" spc="-1">
                      <a:solidFill>
                        <a:srgbClr val="000000"/>
                      </a:solidFill>
                      <a:latin typeface="Calibri"/>
                      <a:ea typeface="Calibri"/>
                    </a:rPr>
                    <a:t>) a partir del </a:t>
                  </a:r>
                  <a:r>
                    <a:rPr lang="es-ES" sz="1600" b="1" strike="noStrike" spc="-1">
                      <a:solidFill>
                        <a:srgbClr val="000000"/>
                      </a:solidFill>
                      <a:latin typeface="Calibri"/>
                      <a:ea typeface="Calibri"/>
                    </a:rPr>
                    <a:t>método LR</a:t>
                  </a:r>
                  <a:r>
                    <a:rPr lang="es-ES" sz="1600" b="1" strike="noStrike" spc="-1" baseline="30000">
                      <a:solidFill>
                        <a:srgbClr val="000000"/>
                      </a:solidFill>
                      <a:latin typeface="Calibri"/>
                      <a:ea typeface="Calibri"/>
                    </a:rPr>
                    <a:t>1</a:t>
                  </a:r>
                  <a:r>
                    <a:rPr lang="es-ES" sz="1600" b="0" strike="noStrike" spc="-1">
                      <a:solidFill>
                        <a:srgbClr val="000000"/>
                      </a:solidFill>
                      <a:latin typeface="Calibri"/>
                      <a:ea typeface="Calibri"/>
                    </a:rPr>
                    <a:t>.</a:t>
                  </a:r>
                  <a:endParaRPr lang="es-ES" sz="1600" b="0" strike="noStrike" spc="-1">
                    <a:latin typeface="Arial"/>
                  </a:endParaRPr>
                </a:p>
              </p:txBody>
            </p:sp>
          </mc:Choice>
          <mc:Fallback xmlns="">
            <p:sp>
              <p:nvSpPr>
                <p:cNvPr id="20" name="CuadroTexto 3">
                  <a:extLst>
                    <a:ext uri="{FF2B5EF4-FFF2-40B4-BE49-F238E27FC236}">
                      <a16:creationId xmlns:a16="http://schemas.microsoft.com/office/drawing/2014/main" id="{282C5932-C85C-B738-9C46-BD14BF79C9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9200" y="1135440"/>
                  <a:ext cx="4811040" cy="1552797"/>
                </a:xfrm>
                <a:prstGeom prst="rect">
                  <a:avLst/>
                </a:prstGeom>
                <a:blipFill>
                  <a:blip r:embed="rId3"/>
                  <a:stretch>
                    <a:fillRect l="-1141" t="-1961" r="-760" b="-1961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">
                  <a:extLst>
                    <a:ext uri="{FF2B5EF4-FFF2-40B4-BE49-F238E27FC236}">
                      <a16:creationId xmlns:a16="http://schemas.microsoft.com/office/drawing/2014/main" id="{338CA00D-AEC3-59A3-4ABD-BD6FDAFCF664}"/>
                    </a:ext>
                  </a:extLst>
                </p:cNvPr>
                <p:cNvSpPr txBox="1"/>
                <p:nvPr/>
              </p:nvSpPr>
              <p:spPr>
                <a:xfrm>
                  <a:off x="7958040" y="2622134"/>
                  <a:ext cx="2553360" cy="23726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s-E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</m:ctrlPr>
                              </m:accPr>
                              <m:e>
                                <m: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e>
                            </m:acc>
                          </m:e>
                          <m:sub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𝑤</m:t>
                            </m:r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,</m:t>
                            </m:r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𝑝</m:t>
                            </m:r>
                          </m:sub>
                        </m:sSub>
                        <m:r>
                          <a:rPr lang="es-ES" sz="1600" b="0" i="1" strike="noStrike" spc="-1" smtClean="0">
                            <a:solidFill>
                              <a:srgbClr val="000000"/>
                            </a:solidFill>
                            <a:uFillTx/>
                            <a:latin typeface="Cambria Math" panose="02040503050406030204" pitchFamily="18" charset="0"/>
                            <a:ea typeface="Calibri"/>
                          </a:rPr>
                          <m:t>=</m:t>
                        </m:r>
                        <m:f>
                          <m:fPr>
                            <m:ctrlP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ES" sz="1600" b="0" i="1" strike="noStrike" spc="-1" smtClean="0">
                                        <a:solidFill>
                                          <a:srgbClr val="000000"/>
                                        </a:solidFill>
                                        <a:uFillTx/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b="0" i="1" strike="noStrike" spc="-1" smtClean="0">
                                        <a:solidFill>
                                          <a:srgbClr val="000000"/>
                                        </a:solidFill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600" i="1" spc="-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ES" sz="1600" i="1" spc="-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i="1" spc="-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ES" sz="1600" b="0" i="1" spc="-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ES" sz="1600" i="1" spc="-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ES" sz="1600" i="1" spc="-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i="1" spc="-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ES" sz="1600" b="0" i="1" spc="-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s-ES" sz="1600"/>
                </a:p>
                <a:p>
                  <a:endParaRPr lang="es-ES" sz="160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</m:ctrlPr>
                              </m:accPr>
                              <m:e>
                                <m: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𝑤</m:t>
                            </m:r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,</m:t>
                            </m:r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𝑝</m:t>
                            </m:r>
                          </m:sub>
                        </m:sSub>
                        <m:r>
                          <a:rPr lang="es-ES" sz="1600" b="0" i="1" strike="noStrike" spc="-1" smtClean="0">
                            <a:solidFill>
                              <a:srgbClr val="000000"/>
                            </a:solidFill>
                            <a:uFillTx/>
                            <a:latin typeface="Cambria Math" panose="02040503050406030204" pitchFamily="18" charset="0"/>
                            <a:ea typeface="Calibri"/>
                          </a:rPr>
                          <m:t>=</m:t>
                        </m:r>
                        <m:f>
                          <m:fPr>
                            <m:ctrlP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</m:ctrlPr>
                          </m:fPr>
                          <m:num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𝑐𝑜𝑣</m:t>
                            </m:r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ES" sz="1600" b="0" i="1" strike="noStrike" spc="-1" smtClean="0">
                                        <a:solidFill>
                                          <a:srgbClr val="000000"/>
                                        </a:solidFill>
                                        <a:uFillTx/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b="0" i="1" strike="noStrike" spc="-1" smtClean="0">
                                        <a:solidFill>
                                          <a:srgbClr val="000000"/>
                                        </a:solidFill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sz="1600" i="1" spc="-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ES" sz="1600" i="1" spc="-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i="1" spc="-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ES" sz="1600" b="0" i="1" spc="-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s-ES" sz="16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s-ES" sz="16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𝑣𝑎𝑟</m:t>
                            </m:r>
                            <m:r>
                              <a:rPr lang="es-ES" sz="16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ES" sz="1600" i="1" spc="-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ES" sz="1600" i="1" spc="-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i="1" spc="-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ES" sz="1600" b="0" i="1" spc="-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s-ES" sz="16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s-ES" sz="1600"/>
                </a:p>
                <a:p>
                  <a:endParaRPr lang="es-ES" sz="160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</m:ctrlPr>
                              </m:accPr>
                              <m:e>
                                <m: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  <m:t>𝑎𝑐𝑐</m:t>
                                </m:r>
                              </m:e>
                            </m:acc>
                          </m:e>
                          <m:sub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𝑤</m:t>
                            </m:r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,</m:t>
                            </m:r>
                            <m: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  <m:t>𝑝</m:t>
                            </m:r>
                          </m:sub>
                        </m:sSub>
                        <m:r>
                          <a:rPr lang="es-ES" sz="1600" b="0" i="1" strike="noStrike" spc="-1" smtClean="0">
                            <a:solidFill>
                              <a:srgbClr val="000000"/>
                            </a:solidFill>
                            <a:uFillTx/>
                            <a:latin typeface="Cambria Math" panose="02040503050406030204" pitchFamily="18" charset="0"/>
                            <a:ea typeface="Calibri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s-ES" sz="1600" b="0" i="1" strike="noStrike" spc="-1" smtClean="0">
                                <a:solidFill>
                                  <a:srgbClr val="000000"/>
                                </a:solidFill>
                                <a:uFillTx/>
                                <a:latin typeface="Cambria Math" panose="02040503050406030204" pitchFamily="18" charset="0"/>
                                <a:ea typeface="Calibri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</m:ctrlPr>
                              </m:fPr>
                              <m:num>
                                <m:r>
                                  <a:rPr lang="es-ES" sz="1600" i="1" spc="-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</a:rPr>
                                  <m:t>𝑐𝑜𝑣</m:t>
                                </m:r>
                                <m:r>
                                  <a:rPr lang="es-ES" sz="1600" i="1" spc="-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ES" sz="1600" i="1" spc="-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" sz="1600" i="1" spc="-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libri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i="1" spc="-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600" i="1" spc="-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s-ES" sz="1600" i="1" spc="-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s-ES" sz="1600" i="1" spc="-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" sz="1600" i="1" spc="-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libri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i="1" spc="-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600" b="0" i="1" spc="-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s-ES" sz="1600" b="0" i="1" spc="-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  <m:t>(1−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ES" sz="1600" b="0" i="1" strike="noStrike" spc="-1" smtClean="0">
                                        <a:solidFill>
                                          <a:srgbClr val="000000"/>
                                        </a:solidFill>
                                        <a:uFillTx/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b="0" i="1" strike="noStrike" spc="-1" smtClean="0">
                                        <a:solidFill>
                                          <a:srgbClr val="000000"/>
                                        </a:solidFill>
                                        <a:uFillTx/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  <m:t>𝐹</m:t>
                                    </m:r>
                                  </m:e>
                                </m:acc>
                                <m:r>
                                  <a:rPr lang="es-ES" sz="1600" b="0" i="1" strike="noStrike" spc="-1" smtClean="0">
                                    <a:solidFill>
                                      <a:srgbClr val="000000"/>
                                    </a:solidFill>
                                    <a:uFillTx/>
                                    <a:latin typeface="Cambria Math" panose="02040503050406030204" pitchFamily="18" charset="0"/>
                                    <a:ea typeface="Calibri"/>
                                  </a:rPr>
                                  <m:t>)</m:t>
                                </m:r>
                                <m:r>
                                  <a:rPr lang="es-ES" sz="1600" i="1" spc="-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s-ES" sz="1600" i="1" spc="-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" sz="1600" b="0" i="1" strike="noStrike" spc="-1" smtClean="0">
                                            <a:solidFill>
                                              <a:srgbClr val="000000"/>
                                            </a:solidFill>
                                            <a:uFillTx/>
                                            <a:latin typeface="Cambria Math" panose="02040503050406030204" pitchFamily="18" charset="0"/>
                                            <a:ea typeface="Calibri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i="1" spc="-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600" b="0" i="1" spc="-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  <m:t>𝑢</m:t>
                                    </m:r>
                                  </m:sub>
                                  <m:sup>
                                    <m:r>
                                      <a:rPr lang="es-ES" sz="1600" b="0" i="1" spc="-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libri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rad>
                      </m:oMath>
                    </m:oMathPara>
                  </a14:m>
                  <a:endParaRPr lang="es-ES" sz="1600"/>
                </a:p>
              </p:txBody>
            </p:sp>
          </mc:Choice>
          <mc:Fallback xmlns="">
            <p:sp>
              <p:nvSpPr>
                <p:cNvPr id="21" name="CuadroTexto 2">
                  <a:extLst>
                    <a:ext uri="{FF2B5EF4-FFF2-40B4-BE49-F238E27FC236}">
                      <a16:creationId xmlns:a16="http://schemas.microsoft.com/office/drawing/2014/main" id="{338CA00D-AEC3-59A3-4ABD-BD6FDAFCF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8040" y="2622134"/>
                  <a:ext cx="2553360" cy="23726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44500A53-5B5A-9712-FFB1-F80417F9127D}"/>
              </a:ext>
            </a:extLst>
          </p:cNvPr>
          <p:cNvGrpSpPr/>
          <p:nvPr/>
        </p:nvGrpSpPr>
        <p:grpSpPr>
          <a:xfrm>
            <a:off x="5711752" y="4944851"/>
            <a:ext cx="6569310" cy="1219801"/>
            <a:chOff x="5875038" y="4944851"/>
            <a:chExt cx="6569310" cy="1219801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86016628-72A4-9294-1DFE-7167E93B4272}"/>
                </a:ext>
              </a:extLst>
            </p:cNvPr>
            <p:cNvGrpSpPr/>
            <p:nvPr/>
          </p:nvGrpSpPr>
          <p:grpSpPr>
            <a:xfrm>
              <a:off x="5875038" y="4944851"/>
              <a:ext cx="5415854" cy="1219801"/>
              <a:chOff x="5875038" y="4944851"/>
              <a:chExt cx="5415854" cy="1219801"/>
            </a:xfrm>
          </p:grpSpPr>
          <p:grpSp>
            <p:nvGrpSpPr>
              <p:cNvPr id="23" name="Grupo 22">
                <a:extLst>
                  <a:ext uri="{FF2B5EF4-FFF2-40B4-BE49-F238E27FC236}">
                    <a16:creationId xmlns:a16="http://schemas.microsoft.com/office/drawing/2014/main" id="{73D21242-29D7-2B89-75CE-0A852A1697C9}"/>
                  </a:ext>
                </a:extLst>
              </p:cNvPr>
              <p:cNvGrpSpPr/>
              <p:nvPr/>
            </p:nvGrpSpPr>
            <p:grpSpPr>
              <a:xfrm>
                <a:off x="5875038" y="4944851"/>
                <a:ext cx="5415854" cy="1219801"/>
                <a:chOff x="6129038" y="4845065"/>
                <a:chExt cx="5415854" cy="1219801"/>
              </a:xfrm>
            </p:grpSpPr>
            <p:grpSp>
              <p:nvGrpSpPr>
                <p:cNvPr id="22" name="Grupo 21">
                  <a:extLst>
                    <a:ext uri="{FF2B5EF4-FFF2-40B4-BE49-F238E27FC236}">
                      <a16:creationId xmlns:a16="http://schemas.microsoft.com/office/drawing/2014/main" id="{8E3F6462-7108-3F9D-54A3-6473CE6DDF82}"/>
                    </a:ext>
                  </a:extLst>
                </p:cNvPr>
                <p:cNvGrpSpPr/>
                <p:nvPr/>
              </p:nvGrpSpPr>
              <p:grpSpPr>
                <a:xfrm>
                  <a:off x="10024757" y="5134434"/>
                  <a:ext cx="1520135" cy="930432"/>
                  <a:chOff x="10024757" y="5134434"/>
                  <a:chExt cx="1520135" cy="930432"/>
                </a:xfrm>
              </p:grpSpPr>
              <p:sp>
                <p:nvSpPr>
                  <p:cNvPr id="124" name="Flecha: a la derecha 22"/>
                  <p:cNvSpPr/>
                  <p:nvPr/>
                </p:nvSpPr>
                <p:spPr>
                  <a:xfrm>
                    <a:off x="10024757" y="5255537"/>
                    <a:ext cx="154080" cy="82080"/>
                  </a:xfrm>
                  <a:prstGeom prst="rightArrow">
                    <a:avLst>
                      <a:gd name="adj1" fmla="val 50000"/>
                      <a:gd name="adj2" fmla="val 50000"/>
                    </a:avLst>
                  </a:prstGeom>
                  <a:solidFill>
                    <a:schemeClr val="tx1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25" name="Flecha: a la derecha 23"/>
                  <p:cNvSpPr/>
                  <p:nvPr/>
                </p:nvSpPr>
                <p:spPr>
                  <a:xfrm>
                    <a:off x="10029079" y="5670018"/>
                    <a:ext cx="154080" cy="82080"/>
                  </a:xfrm>
                  <a:prstGeom prst="rightArrow">
                    <a:avLst>
                      <a:gd name="adj1" fmla="val 50000"/>
                      <a:gd name="adj2" fmla="val 50000"/>
                    </a:avLst>
                  </a:prstGeom>
                  <a:solidFill>
                    <a:schemeClr val="tx1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26" name="CuadroTexto 26"/>
                  <p:cNvSpPr/>
                  <p:nvPr/>
                </p:nvSpPr>
                <p:spPr>
                  <a:xfrm>
                    <a:off x="10124332" y="5134434"/>
                    <a:ext cx="1420560" cy="517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vertOverflow="overflow" horzOverflow="overflow" numCol="1" spcCol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s-ES" sz="1400" b="1" strike="noStrike" spc="-1" dirty="0">
                        <a:solidFill>
                          <a:srgbClr val="000000"/>
                        </a:solidFill>
                        <a:latin typeface="Calibri"/>
                      </a:rPr>
                      <a:t>GEBV </a:t>
                    </a:r>
                    <a:r>
                      <a:rPr lang="es-ES" sz="1400" b="0" strike="noStrike" spc="-1" dirty="0">
                        <a:solidFill>
                          <a:srgbClr val="000000"/>
                        </a:solidFill>
                        <a:latin typeface="Calibri"/>
                      </a:rPr>
                      <a:t>completo</a:t>
                    </a:r>
                    <a:endParaRPr lang="es-ES" sz="1400" b="0" strike="noStrike" spc="-1" dirty="0">
                      <a:latin typeface="Arial"/>
                    </a:endParaRPr>
                  </a:p>
                </p:txBody>
              </p:sp>
              <p:sp>
                <p:nvSpPr>
                  <p:cNvPr id="127" name="CuadroTexto 28"/>
                  <p:cNvSpPr/>
                  <p:nvPr/>
                </p:nvSpPr>
                <p:spPr>
                  <a:xfrm>
                    <a:off x="10149174" y="5547546"/>
                    <a:ext cx="1235160" cy="517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vertOverflow="overflow" horzOverflow="overflow" numCol="1" spcCol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s-ES" sz="1400" b="1" strike="noStrike" spc="-1" dirty="0">
                        <a:solidFill>
                          <a:srgbClr val="000000"/>
                        </a:solidFill>
                        <a:latin typeface="Calibri"/>
                      </a:rPr>
                      <a:t>GEBV </a:t>
                    </a:r>
                    <a:r>
                      <a:rPr lang="es-ES" sz="1400" b="0" strike="noStrike" spc="-1" dirty="0">
                        <a:solidFill>
                          <a:srgbClr val="000000"/>
                        </a:solidFill>
                        <a:latin typeface="Calibri"/>
                      </a:rPr>
                      <a:t>parcial</a:t>
                    </a:r>
                    <a:endParaRPr lang="es-ES" sz="1400" b="0" strike="noStrike" spc="-1" dirty="0">
                      <a:latin typeface="Arial"/>
                    </a:endParaRPr>
                  </a:p>
                </p:txBody>
              </p:sp>
            </p:grpSp>
            <p:grpSp>
              <p:nvGrpSpPr>
                <p:cNvPr id="114" name="Grupo 21"/>
                <p:cNvGrpSpPr/>
                <p:nvPr/>
              </p:nvGrpSpPr>
              <p:grpSpPr>
                <a:xfrm>
                  <a:off x="6129038" y="4845065"/>
                  <a:ext cx="4111720" cy="968689"/>
                  <a:chOff x="6669200" y="4891320"/>
                  <a:chExt cx="4111720" cy="968689"/>
                </a:xfrm>
              </p:grpSpPr>
              <p:sp>
                <p:nvSpPr>
                  <p:cNvPr id="115" name="Rectángulo 10"/>
                  <p:cNvSpPr/>
                  <p:nvPr/>
                </p:nvSpPr>
                <p:spPr>
                  <a:xfrm>
                    <a:off x="6988519" y="5241240"/>
                    <a:ext cx="3472072" cy="175969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16" name="Rectángulo 11"/>
                  <p:cNvSpPr/>
                  <p:nvPr/>
                </p:nvSpPr>
                <p:spPr>
                  <a:xfrm>
                    <a:off x="6996222" y="5684040"/>
                    <a:ext cx="2557889" cy="175969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17" name="Conector recto de flecha 16"/>
                  <p:cNvSpPr/>
                  <p:nvPr/>
                </p:nvSpPr>
                <p:spPr>
                  <a:xfrm flipH="1">
                    <a:off x="9545040" y="5241240"/>
                    <a:ext cx="360" cy="4424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00" h="21600">
                        <a:moveTo>
                          <a:pt x="0" y="0"/>
                        </a:moveTo>
                        <a:lnTo>
                          <a:pt x="21600" y="21600"/>
                        </a:lnTo>
                      </a:path>
                    </a:pathLst>
                  </a:cu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18" name="CuadroTexto 12"/>
                  <p:cNvSpPr/>
                  <p:nvPr/>
                </p:nvSpPr>
                <p:spPr>
                  <a:xfrm>
                    <a:off x="6669200" y="4891320"/>
                    <a:ext cx="648360" cy="258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vertOverflow="overflow" horzOverflow="overflow" numCol="1" spcCol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s-ES" sz="1100" b="1" strike="noStrike" spc="-1" dirty="0">
                        <a:solidFill>
                          <a:srgbClr val="000000"/>
                        </a:solidFill>
                        <a:latin typeface="Calibri"/>
                      </a:rPr>
                      <a:t>1984</a:t>
                    </a:r>
                    <a:endParaRPr lang="es-ES" sz="1100" b="0" strike="noStrike" spc="-1" dirty="0">
                      <a:latin typeface="Arial"/>
                    </a:endParaRPr>
                  </a:p>
                </p:txBody>
              </p:sp>
              <p:sp>
                <p:nvSpPr>
                  <p:cNvPr id="119" name="CuadroTexto 13"/>
                  <p:cNvSpPr/>
                  <p:nvPr/>
                </p:nvSpPr>
                <p:spPr>
                  <a:xfrm>
                    <a:off x="9226440" y="4891320"/>
                    <a:ext cx="648360" cy="258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vertOverflow="overflow" horzOverflow="overflow" numCol="1" spcCol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s-ES" sz="1100" b="1" strike="noStrike" spc="-1" dirty="0">
                        <a:solidFill>
                          <a:srgbClr val="000000"/>
                        </a:solidFill>
                        <a:latin typeface="Calibri"/>
                      </a:rPr>
                      <a:t>2017</a:t>
                    </a:r>
                    <a:endParaRPr lang="es-ES" sz="1100" b="0" strike="noStrike" spc="-1" dirty="0">
                      <a:latin typeface="Arial"/>
                    </a:endParaRPr>
                  </a:p>
                </p:txBody>
              </p:sp>
              <p:sp>
                <p:nvSpPr>
                  <p:cNvPr id="120" name="CuadroTexto 14"/>
                  <p:cNvSpPr/>
                  <p:nvPr/>
                </p:nvSpPr>
                <p:spPr>
                  <a:xfrm>
                    <a:off x="10132560" y="4891320"/>
                    <a:ext cx="648360" cy="258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vertOverflow="overflow" horzOverflow="overflow" numCol="1" spcCol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s-ES" sz="1100" b="1" strike="noStrike" spc="-1" dirty="0">
                        <a:solidFill>
                          <a:srgbClr val="000000"/>
                        </a:solidFill>
                        <a:latin typeface="Calibri"/>
                      </a:rPr>
                      <a:t>2023</a:t>
                    </a:r>
                    <a:endParaRPr lang="es-ES" sz="1100" b="0" strike="noStrike" spc="-1" dirty="0">
                      <a:latin typeface="Arial"/>
                    </a:endParaRPr>
                  </a:p>
                </p:txBody>
              </p:sp>
              <p:sp>
                <p:nvSpPr>
                  <p:cNvPr id="121" name="Conector recto de flecha 18"/>
                  <p:cNvSpPr/>
                  <p:nvPr/>
                </p:nvSpPr>
                <p:spPr>
                  <a:xfrm>
                    <a:off x="6988520" y="5148720"/>
                    <a:ext cx="360" cy="28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00" h="21600">
                        <a:moveTo>
                          <a:pt x="0" y="0"/>
                        </a:moveTo>
                        <a:lnTo>
                          <a:pt x="21600" y="2160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22" name="Conector recto de flecha 19"/>
                  <p:cNvSpPr/>
                  <p:nvPr/>
                </p:nvSpPr>
                <p:spPr>
                  <a:xfrm>
                    <a:off x="10460951" y="5148720"/>
                    <a:ext cx="360" cy="28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00" h="21600">
                        <a:moveTo>
                          <a:pt x="0" y="0"/>
                        </a:moveTo>
                        <a:lnTo>
                          <a:pt x="21600" y="2160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23" name="Conector recto de flecha 20"/>
                  <p:cNvSpPr/>
                  <p:nvPr/>
                </p:nvSpPr>
                <p:spPr>
                  <a:xfrm>
                    <a:off x="9546769" y="5148720"/>
                    <a:ext cx="360" cy="1436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00" h="21600">
                        <a:moveTo>
                          <a:pt x="0" y="0"/>
                        </a:moveTo>
                        <a:lnTo>
                          <a:pt x="21600" y="2160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s-ES"/>
                  </a:p>
                </p:txBody>
              </p:sp>
            </p:grpSp>
          </p:grpSp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2239EC93-7B01-A349-9B64-70E4CF05DFFC}"/>
                  </a:ext>
                </a:extLst>
              </p:cNvPr>
              <p:cNvSpPr/>
              <p:nvPr/>
            </p:nvSpPr>
            <p:spPr>
              <a:xfrm>
                <a:off x="9974447" y="5216895"/>
                <a:ext cx="1206499" cy="75292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A5CEFEF8-FE6D-1800-077E-687DCC2B8EAE}"/>
                </a:ext>
              </a:extLst>
            </p:cNvPr>
            <p:cNvSpPr txBox="1"/>
            <p:nvPr/>
          </p:nvSpPr>
          <p:spPr>
            <a:xfrm>
              <a:off x="11176823" y="5460174"/>
              <a:ext cx="1267525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s-ES" sz="1400" b="1" dirty="0" err="1"/>
                <a:t>ssGBLUP</a:t>
              </a:r>
              <a:endParaRPr lang="es-ES" sz="1400" b="1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s-ES" sz="3600" b="1" strike="noStrike" spc="-1">
                <a:solidFill>
                  <a:srgbClr val="FFFFFF"/>
                </a:solidFill>
                <a:latin typeface="Calibri Light"/>
              </a:rPr>
              <a:t>Resultados</a:t>
            </a:r>
            <a:endParaRPr lang="es-ES" sz="36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B983EA9-EE4D-CC1C-85BD-BC71760FFEAC}"/>
              </a:ext>
            </a:extLst>
          </p:cNvPr>
          <p:cNvGrpSpPr/>
          <p:nvPr/>
        </p:nvGrpSpPr>
        <p:grpSpPr>
          <a:xfrm>
            <a:off x="1385280" y="1434960"/>
            <a:ext cx="9420840" cy="2988038"/>
            <a:chOff x="1385280" y="1434960"/>
            <a:chExt cx="9420840" cy="2988038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069B7065-F65E-C1E9-65A5-892EF08EF600}"/>
                </a:ext>
              </a:extLst>
            </p:cNvPr>
            <p:cNvGrpSpPr/>
            <p:nvPr/>
          </p:nvGrpSpPr>
          <p:grpSpPr>
            <a:xfrm>
              <a:off x="1385280" y="1434960"/>
              <a:ext cx="9420840" cy="2988038"/>
              <a:chOff x="1385280" y="1434960"/>
              <a:chExt cx="9420840" cy="2988038"/>
            </a:xfrm>
          </p:grpSpPr>
          <p:sp>
            <p:nvSpPr>
              <p:cNvPr id="129" name="CuadroTexto 3"/>
              <p:cNvSpPr/>
              <p:nvPr/>
            </p:nvSpPr>
            <p:spPr>
              <a:xfrm>
                <a:off x="1385280" y="3631358"/>
                <a:ext cx="5959080" cy="791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vertOverflow="overflow" horzOverflow="overflow" numCol="1" spcCol="0" anchor="t">
                <a:sp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:r>
                  <a:rPr lang="es-ES" sz="1400" b="0" strike="noStrike" spc="-1">
                    <a:solidFill>
                      <a:srgbClr val="000000"/>
                    </a:solidFill>
                    <a:latin typeface="Calibri"/>
                    <a:ea typeface="Calibri"/>
                  </a:rPr>
                  <a:t>EPP, Edad al primer parto; IEP, Intervalo entre el primer y el segundo parto.</a:t>
                </a:r>
                <a:endParaRPr lang="es-ES" sz="1400" b="0" strike="noStrike" spc="-1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lang="es-ES" sz="1800" b="0" strike="noStrike" spc="-1">
                  <a:latin typeface="Arial"/>
                </a:endParaRPr>
              </a:p>
            </p:txBody>
          </p:sp>
          <p:graphicFrame>
            <p:nvGraphicFramePr>
              <p:cNvPr id="130" name="Tabla 4"/>
              <p:cNvGraphicFramePr/>
              <p:nvPr>
                <p:extLst>
                  <p:ext uri="{D42A27DB-BD31-4B8C-83A1-F6EECF244321}">
                    <p14:modId xmlns:p14="http://schemas.microsoft.com/office/powerpoint/2010/main" val="620553465"/>
                  </p:ext>
                </p:extLst>
              </p:nvPr>
            </p:nvGraphicFramePr>
            <p:xfrm>
              <a:off x="1388160" y="1434960"/>
              <a:ext cx="9417960" cy="2196360"/>
            </p:xfrm>
            <a:graphic>
              <a:graphicData uri="http://schemas.openxmlformats.org/drawingml/2006/table">
                <a:tbl>
                  <a:tblPr/>
                  <a:tblGrid>
                    <a:gridCol w="140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85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64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01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976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4832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41516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36612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Escenarios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 w="12240">
                          <a:solidFill>
                            <a:srgbClr val="A5A5A5"/>
                          </a:solidFill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EPP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 w="12240">
                          <a:solidFill>
                            <a:srgbClr val="A5A5A5"/>
                          </a:solidFill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 w="12240">
                          <a:solidFill>
                            <a:srgbClr val="A5A5A5"/>
                          </a:solidFill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IEP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 w="12240">
                          <a:solidFill>
                            <a:srgbClr val="A5A5A5"/>
                          </a:solidFill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1623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 w="12240">
                          <a:solidFill>
                            <a:srgbClr val="A5A5A5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Sesgo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240" cap="flat" cmpd="sng" algn="ctr">
                          <a:solidFill>
                            <a:srgbClr val="A5A5A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Dispersión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Precisión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 w="12240" cap="flat" cmpd="sng" algn="ctr">
                          <a:solidFill>
                            <a:srgbClr val="A5A5A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Sesgo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 w="12240" cap="flat" cmpd="sng" algn="ctr">
                          <a:solidFill>
                            <a:srgbClr val="A5A5A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Dispersión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Precisión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61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E1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0.103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1.05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0.46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0.074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1.46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0.414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61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E2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0.105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1.10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0.43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0.058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1.47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0.409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61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E3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0.103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1.10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0.44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0.058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1.46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0.408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61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E4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0.105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1.11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0.43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0.056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1.46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0.403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p:grpSp>
        <p:sp>
          <p:nvSpPr>
            <p:cNvPr id="131" name="Rectángulo 15"/>
            <p:cNvSpPr/>
            <p:nvPr/>
          </p:nvSpPr>
          <p:spPr>
            <a:xfrm>
              <a:off x="5640840" y="2165414"/>
              <a:ext cx="573480" cy="385560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s-ES"/>
            </a:p>
          </p:txBody>
        </p:sp>
        <p:sp>
          <p:nvSpPr>
            <p:cNvPr id="132" name="Rectángulo 7"/>
            <p:cNvSpPr/>
            <p:nvPr/>
          </p:nvSpPr>
          <p:spPr>
            <a:xfrm>
              <a:off x="9731880" y="2149574"/>
              <a:ext cx="722160" cy="385560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s-ES" sz="3600" b="1" strike="noStrike" spc="-1">
                <a:solidFill>
                  <a:srgbClr val="FFFFFF"/>
                </a:solidFill>
                <a:latin typeface="Calibri Light"/>
                <a:ea typeface="Calibri Light"/>
              </a:rPr>
              <a:t>Resultados</a:t>
            </a:r>
            <a:endParaRPr lang="es-ES" sz="36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F0CF485-E660-B073-3427-AF3B6C403E85}"/>
              </a:ext>
            </a:extLst>
          </p:cNvPr>
          <p:cNvGrpSpPr/>
          <p:nvPr/>
        </p:nvGrpSpPr>
        <p:grpSpPr>
          <a:xfrm>
            <a:off x="1388160" y="1445583"/>
            <a:ext cx="9417960" cy="2785648"/>
            <a:chOff x="1388160" y="1445583"/>
            <a:chExt cx="9417960" cy="2785648"/>
          </a:xfrm>
        </p:grpSpPr>
        <p:sp>
          <p:nvSpPr>
            <p:cNvPr id="134" name="CuadroTexto 3"/>
            <p:cNvSpPr/>
            <p:nvPr/>
          </p:nvSpPr>
          <p:spPr>
            <a:xfrm>
              <a:off x="1389600" y="3652711"/>
              <a:ext cx="3455280" cy="57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numCol="1" spcCol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s-ES" sz="1400" b="0" strike="noStrike" spc="-1">
                  <a:solidFill>
                    <a:srgbClr val="000000"/>
                  </a:solidFill>
                  <a:latin typeface="Calibri"/>
                  <a:ea typeface="Calibri"/>
                </a:rPr>
                <a:t>PD, Peso al destete.</a:t>
              </a:r>
              <a:endParaRPr lang="es-ES" sz="14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lang="es-ES" sz="1800" b="0" strike="noStrike" spc="-1">
                <a:latin typeface="Arial"/>
              </a:endParaRPr>
            </a:p>
          </p:txBody>
        </p: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D7A4E3FC-DCC8-8E9D-9A65-95B1236D9526}"/>
                </a:ext>
              </a:extLst>
            </p:cNvPr>
            <p:cNvGrpSpPr/>
            <p:nvPr/>
          </p:nvGrpSpPr>
          <p:grpSpPr>
            <a:xfrm>
              <a:off x="1388160" y="1445583"/>
              <a:ext cx="9417960" cy="2196360"/>
              <a:chOff x="1388160" y="1445583"/>
              <a:chExt cx="9417960" cy="2196360"/>
            </a:xfrm>
          </p:grpSpPr>
          <p:sp>
            <p:nvSpPr>
              <p:cNvPr id="136" name="Rectángulo 17"/>
              <p:cNvSpPr/>
              <p:nvPr/>
            </p:nvSpPr>
            <p:spPr>
              <a:xfrm>
                <a:off x="5589360" y="2175311"/>
                <a:ext cx="676440" cy="385560"/>
              </a:xfrm>
              <a:prstGeom prst="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137" name="Rectángulo 23"/>
              <p:cNvSpPr/>
              <p:nvPr/>
            </p:nvSpPr>
            <p:spPr>
              <a:xfrm>
                <a:off x="9700920" y="2179991"/>
                <a:ext cx="722160" cy="385560"/>
              </a:xfrm>
              <a:prstGeom prst="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s-ES"/>
              </a:p>
            </p:txBody>
          </p:sp>
          <p:graphicFrame>
            <p:nvGraphicFramePr>
              <p:cNvPr id="3" name="Tabla 4"/>
              <p:cNvGraphicFramePr/>
              <p:nvPr>
                <p:extLst>
                  <p:ext uri="{D42A27DB-BD31-4B8C-83A1-F6EECF244321}">
                    <p14:modId xmlns:p14="http://schemas.microsoft.com/office/powerpoint/2010/main" val="89558293"/>
                  </p:ext>
                </p:extLst>
              </p:nvPr>
            </p:nvGraphicFramePr>
            <p:xfrm>
              <a:off x="1388160" y="1445583"/>
              <a:ext cx="9417960" cy="2196360"/>
            </p:xfrm>
            <a:graphic>
              <a:graphicData uri="http://schemas.openxmlformats.org/drawingml/2006/table">
                <a:tbl>
                  <a:tblPr/>
                  <a:tblGrid>
                    <a:gridCol w="140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85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64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01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976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4832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41516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36612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Escenarios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 w="12240">
                          <a:solidFill>
                            <a:srgbClr val="A5A5A5"/>
                          </a:solidFill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PD – Efecto directo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 w="12240">
                          <a:solidFill>
                            <a:srgbClr val="A5A5A5"/>
                          </a:solidFill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 w="12240">
                          <a:solidFill>
                            <a:srgbClr val="A5A5A5"/>
                          </a:solidFill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PD – Efecto materno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 w="12240">
                          <a:solidFill>
                            <a:srgbClr val="A5A5A5"/>
                          </a:solidFill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1623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 w="12240">
                          <a:solidFill>
                            <a:srgbClr val="A5A5A5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Sesgo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240" cap="flat" cmpd="sng" algn="ctr">
                          <a:solidFill>
                            <a:srgbClr val="A5A5A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Dispersión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Precisión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 w="12240" cap="flat" cmpd="sng" algn="ctr">
                          <a:solidFill>
                            <a:srgbClr val="A5A5A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Sesgo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 w="12240" cap="flat" cmpd="sng" algn="ctr">
                          <a:solidFill>
                            <a:srgbClr val="A5A5A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Dispersión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Precisión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61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E1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240">
                          <a:solidFill>
                            <a:srgbClr val="A5A5A5"/>
                          </a:solidFill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0.059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0.92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0.385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-0.034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0.90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0.351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61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E2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0.065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0.98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0.384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-0.036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0.87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0.325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61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E3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0.066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0.99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0.383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-0.038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0.87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0.324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61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1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E4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0.061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0.98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0.382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-0.033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>
                          <a:solidFill>
                            <a:srgbClr val="000000"/>
                          </a:solidFill>
                        </a:lnL>
                        <a:lnR w="12240">
                          <a:solidFill>
                            <a:srgbClr val="000000"/>
                          </a:solidFill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0.87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 w="1224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s-ES" sz="1800" b="0" strike="noStrike" spc="-1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0.322</a:t>
                          </a:r>
                          <a:endParaRPr lang="es-ES" sz="1800" b="0" strike="noStrike" spc="-1" dirty="0">
                            <a:latin typeface="Arial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240">
                          <a:solidFill>
                            <a:srgbClr val="A5A5A5"/>
                          </a:solidFill>
                        </a:lnB>
                        <a:solidFill>
                          <a:srgbClr val="A5A5A5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242640" y="0"/>
            <a:ext cx="11952720" cy="631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s-ES" sz="3600" b="1" strike="noStrike" spc="-1">
                <a:solidFill>
                  <a:srgbClr val="FFFFFF"/>
                </a:solidFill>
                <a:latin typeface="Calibri Light"/>
              </a:rPr>
              <a:t>Conclusión</a:t>
            </a:r>
            <a:endParaRPr lang="es-ES" sz="36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39" name="Grupo 7"/>
          <p:cNvGrpSpPr/>
          <p:nvPr/>
        </p:nvGrpSpPr>
        <p:grpSpPr>
          <a:xfrm>
            <a:off x="813600" y="1894680"/>
            <a:ext cx="10568880" cy="2143080"/>
            <a:chOff x="813600" y="1894680"/>
            <a:chExt cx="10568880" cy="2143080"/>
          </a:xfrm>
        </p:grpSpPr>
        <p:pic>
          <p:nvPicPr>
            <p:cNvPr id="140" name="Imagen 3" descr="Imagen que contiene Texto&#10;&#10;Descripción generada automáticamente"/>
            <p:cNvPicPr/>
            <p:nvPr/>
          </p:nvPicPr>
          <p:blipFill>
            <a:blip r:embed="rId2"/>
            <a:stretch/>
          </p:blipFill>
          <p:spPr>
            <a:xfrm>
              <a:off x="9378000" y="3190320"/>
              <a:ext cx="1199880" cy="847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1" name="CuadroTexto 6"/>
            <p:cNvSpPr/>
            <p:nvPr/>
          </p:nvSpPr>
          <p:spPr>
            <a:xfrm>
              <a:off x="813600" y="1894680"/>
              <a:ext cx="10568880" cy="100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vertOverflow="overflow" horzOverflow="overflow" numCol="1" spcCol="0" anchor="t">
              <a:spAutoFit/>
            </a:bodyPr>
            <a:lstStyle/>
            <a:p>
              <a:pPr algn="just">
                <a:lnSpc>
                  <a:spcPct val="100000"/>
                </a:lnSpc>
                <a:buNone/>
              </a:pPr>
              <a:r>
                <a:rPr lang="es-ES" sz="2000" b="0" strike="noStrike" spc="-1">
                  <a:solidFill>
                    <a:srgbClr val="000000"/>
                  </a:solidFill>
                  <a:latin typeface="Calibri"/>
                </a:rPr>
                <a:t>Con la cantidad de información disponible, parece que el incremento en la densidad de marcadores no aporta una mejora en la precisión de la predicción genómica en los caracteres estudiados.</a:t>
              </a:r>
              <a:endParaRPr lang="es-ES" sz="20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3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838080" y="4271760"/>
            <a:ext cx="10515240" cy="10915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5200" b="1" strike="noStrike" spc="-1">
                <a:solidFill>
                  <a:srgbClr val="000000"/>
                </a:solidFill>
                <a:latin typeface="Calibri Light"/>
              </a:rPr>
              <a:t>GRACIAS</a:t>
            </a:r>
            <a:endParaRPr lang="es-ES" sz="5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Rectangle 32"/>
          <p:cNvSpPr/>
          <p:nvPr/>
        </p:nvSpPr>
        <p:spPr>
          <a:xfrm>
            <a:off x="838080" y="5441760"/>
            <a:ext cx="10515240" cy="822600"/>
          </a:xfrm>
          <a:prstGeom prst="rect">
            <a:avLst/>
          </a:prstGeom>
          <a:solidFill>
            <a:srgbClr val="FFFFFF"/>
          </a:solidFill>
          <a:ln>
            <a:solidFill>
              <a:srgbClr val="DEDEDE"/>
            </a:solidFill>
          </a:ln>
          <a:effectLst>
            <a:outerShdw blurRad="50760" dist="37674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145" name="Rectangle 34"/>
          <p:cNvSpPr/>
          <p:nvPr/>
        </p:nvSpPr>
        <p:spPr>
          <a:xfrm rot="5400000">
            <a:off x="6041160" y="5905440"/>
            <a:ext cx="109440" cy="731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8" name="CuadroTexto 8">
            <a:extLst>
              <a:ext uri="{FF2B5EF4-FFF2-40B4-BE49-F238E27FC236}">
                <a16:creationId xmlns:a16="http://schemas.microsoft.com/office/drawing/2014/main" id="{B758CACD-D67A-D21E-5A55-D2326F33DD12}"/>
              </a:ext>
            </a:extLst>
          </p:cNvPr>
          <p:cNvSpPr txBox="1"/>
          <p:nvPr/>
        </p:nvSpPr>
        <p:spPr>
          <a:xfrm>
            <a:off x="3398321" y="1488374"/>
            <a:ext cx="8193973" cy="92333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b="1" u="sng" dirty="0"/>
              <a:t>Agradecimiento:</a:t>
            </a:r>
            <a:r>
              <a:rPr lang="es-ES" dirty="0"/>
              <a:t> </a:t>
            </a:r>
            <a:r>
              <a:rPr lang="en-US" dirty="0">
                <a:cs typeface="Arial"/>
              </a:rPr>
              <a:t>A la Real Asociación de Raza </a:t>
            </a:r>
            <a:r>
              <a:rPr lang="en-US" dirty="0" err="1">
                <a:cs typeface="Arial"/>
              </a:rPr>
              <a:t>Avileña</a:t>
            </a:r>
            <a:r>
              <a:rPr lang="en-US" dirty="0">
                <a:cs typeface="Arial"/>
              </a:rPr>
              <a:t>-Negra Ibérica (RAEANI) </a:t>
            </a:r>
            <a:r>
              <a:rPr lang="en-US" dirty="0" err="1">
                <a:cs typeface="Arial"/>
              </a:rPr>
              <a:t>por</a:t>
            </a:r>
            <a:r>
              <a:rPr lang="en-US" dirty="0">
                <a:cs typeface="Arial"/>
              </a:rPr>
              <a:t> la </a:t>
            </a:r>
            <a:r>
              <a:rPr lang="en-US" dirty="0" err="1">
                <a:cs typeface="Arial"/>
              </a:rPr>
              <a:t>cesión</a:t>
            </a:r>
            <a:r>
              <a:rPr lang="en-US" dirty="0">
                <a:cs typeface="Arial"/>
              </a:rPr>
              <a:t> de </a:t>
            </a:r>
            <a:r>
              <a:rPr lang="en-US" dirty="0" err="1">
                <a:cs typeface="Arial"/>
              </a:rPr>
              <a:t>los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datos</a:t>
            </a:r>
            <a:r>
              <a:rPr lang="en-US" dirty="0">
                <a:cs typeface="Arial"/>
              </a:rPr>
              <a:t>, y al </a:t>
            </a:r>
            <a:r>
              <a:rPr lang="en-US" dirty="0" err="1">
                <a:cs typeface="Arial"/>
              </a:rPr>
              <a:t>proyecto</a:t>
            </a:r>
            <a:r>
              <a:rPr lang="en-US" dirty="0">
                <a:cs typeface="Arial"/>
              </a:rPr>
              <a:t> PID2020-113913RR-C31 </a:t>
            </a:r>
            <a:r>
              <a:rPr lang="es-ES" dirty="0">
                <a:cs typeface="Arial"/>
              </a:rPr>
              <a:t>ayuda PRE2021-098165</a:t>
            </a:r>
            <a:r>
              <a:rPr lang="en-US" dirty="0">
                <a:cs typeface="Arial"/>
              </a:rPr>
              <a:t>.</a:t>
            </a:r>
            <a:endParaRPr lang="es-ES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3214616-CD08-28FB-539C-05D644848EB0}"/>
              </a:ext>
            </a:extLst>
          </p:cNvPr>
          <p:cNvGrpSpPr/>
          <p:nvPr/>
        </p:nvGrpSpPr>
        <p:grpSpPr>
          <a:xfrm>
            <a:off x="603662" y="936172"/>
            <a:ext cx="2642261" cy="2043823"/>
            <a:chOff x="643247" y="797626"/>
            <a:chExt cx="2642261" cy="2043823"/>
          </a:xfrm>
        </p:grpSpPr>
        <p:pic>
          <p:nvPicPr>
            <p:cNvPr id="7" name="Imagen 6" descr="Imagen que contiene Logotipo&#10;&#10;Descripción generada automáticamente">
              <a:extLst>
                <a:ext uri="{FF2B5EF4-FFF2-40B4-BE49-F238E27FC236}">
                  <a16:creationId xmlns:a16="http://schemas.microsoft.com/office/drawing/2014/main" id="{9CAEED5F-09C4-38A1-7300-2D1E76215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6738" y="797626"/>
              <a:ext cx="1494656" cy="1492334"/>
            </a:xfrm>
            <a:prstGeom prst="rect">
              <a:avLst/>
            </a:prstGeom>
          </p:spPr>
        </p:pic>
        <p:pic>
          <p:nvPicPr>
            <p:cNvPr id="9" name="Imagen 8" descr="Imagen que contiene Texto&#10;&#10;Descripción generada automáticamente">
              <a:extLst>
                <a:ext uri="{FF2B5EF4-FFF2-40B4-BE49-F238E27FC236}">
                  <a16:creationId xmlns:a16="http://schemas.microsoft.com/office/drawing/2014/main" id="{A5C455C0-3157-C668-4939-128A80E3B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247" y="2195667"/>
              <a:ext cx="2642261" cy="645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Panorámica</PresentationFormat>
  <Slides>6</Slides>
  <Notes>4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Office Theme</vt:lpstr>
      <vt:lpstr>Office Theme</vt:lpstr>
      <vt:lpstr> Evaluación de la precisión en predicciones genómicas usando marcadores de densidad variada y tag SNPs en Avileña-Negra Ibérica</vt:lpstr>
      <vt:lpstr>Metodología</vt:lpstr>
      <vt:lpstr>Resultados</vt:lpstr>
      <vt:lpstr>Resultados</vt:lpstr>
      <vt:lpstr>Conclusión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Reviewer</dc:creator>
  <dc:description/>
  <cp:revision>272</cp:revision>
  <dcterms:created xsi:type="dcterms:W3CDTF">2019-09-02T08:37:35Z</dcterms:created>
  <dcterms:modified xsi:type="dcterms:W3CDTF">2024-06-10T06:40:37Z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Panorámica</vt:lpwstr>
  </property>
  <property fmtid="{D5CDD505-2E9C-101B-9397-08002B2CF9AE}" pid="4" name="Slides">
    <vt:i4>6</vt:i4>
  </property>
</Properties>
</file>